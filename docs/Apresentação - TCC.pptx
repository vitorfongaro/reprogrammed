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6" r:id="rId1"/>
    <p:sldMasterId id="2147483687" r:id="rId2"/>
  </p:sldMasterIdLst>
  <p:notesMasterIdLst>
    <p:notesMasterId r:id="rId19"/>
  </p:notesMasterIdLst>
  <p:sldIdLst>
    <p:sldId id="256" r:id="rId3"/>
    <p:sldId id="273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16"/>
    <p:sldId id="274" r:id="rId17"/>
    <p:sldId id="272" r:id="rId18"/>
  </p:sldIdLst>
  <p:sldSz cx="14630400" cy="8229600"/>
  <p:notesSz cx="8229600" cy="14630400"/>
  <p:embeddedFontLst>
    <p:embeddedFont>
      <p:font typeface="Play" panose="020B0604020202020204" charset="0"/>
      <p:regular r:id="rId20"/>
      <p:bold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1" d="100"/>
          <a:sy n="131" d="100"/>
        </p:scale>
        <p:origin x="4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font" Target="fonts/font2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6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5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3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371850" y="1097275"/>
            <a:ext cx="548665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822950" y="6949425"/>
            <a:ext cx="6583675" cy="6583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e08416131_0_221:notes"/>
          <p:cNvSpPr txBox="1">
            <a:spLocks noGrp="1"/>
          </p:cNvSpPr>
          <p:nvPr>
            <p:ph type="body" idx="1"/>
          </p:nvPr>
        </p:nvSpPr>
        <p:spPr>
          <a:xfrm>
            <a:off x="822960" y="7040880"/>
            <a:ext cx="6583800" cy="57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8" name="Google Shape;188;g3ae08416131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e08416131_0_124:notes"/>
          <p:cNvSpPr txBox="1">
            <a:spLocks noGrp="1"/>
          </p:cNvSpPr>
          <p:nvPr>
            <p:ph type="body" idx="1"/>
          </p:nvPr>
        </p:nvSpPr>
        <p:spPr>
          <a:xfrm>
            <a:off x="822960" y="7040880"/>
            <a:ext cx="6583800" cy="57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8" name="Google Shape;198;g3ae08416131_0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ae08416131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9" name="Google Shape;209;g3ae08416131_0_19:notes"/>
          <p:cNvSpPr txBox="1">
            <a:spLocks noGrp="1"/>
          </p:cNvSpPr>
          <p:nvPr>
            <p:ph type="body" idx="1"/>
          </p:nvPr>
        </p:nvSpPr>
        <p:spPr>
          <a:xfrm>
            <a:off x="822960" y="7040880"/>
            <a:ext cx="6583800" cy="57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900"/>
          </a:p>
        </p:txBody>
      </p:sp>
      <p:sp>
        <p:nvSpPr>
          <p:cNvPr id="210" name="Google Shape;210;g3ae08416131_0_19:notes"/>
          <p:cNvSpPr txBox="1">
            <a:spLocks noGrp="1"/>
          </p:cNvSpPr>
          <p:nvPr>
            <p:ph type="sldNum" idx="12"/>
          </p:nvPr>
        </p:nvSpPr>
        <p:spPr>
          <a:xfrm>
            <a:off x="4661536" y="13896341"/>
            <a:ext cx="3566100" cy="7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fld id="{00000000-1234-1234-1234-123412341234}" type="slidenum">
              <a:rPr lang="en-US"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ab9aec736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6" name="Google Shape;226;g3ab9aec736a_0_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g3ab9aec736a_0_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b9aec736a_0_6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0" name="Google Shape;240;g3ab9aec736a_0_664:notes"/>
          <p:cNvSpPr txBox="1">
            <a:spLocks noGrp="1"/>
          </p:cNvSpPr>
          <p:nvPr>
            <p:ph type="body" idx="1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ab9aec736a_0_4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3ab9aec736a_0_4320:notes"/>
          <p:cNvSpPr txBox="1">
            <a:spLocks noGrp="1"/>
          </p:cNvSpPr>
          <p:nvPr>
            <p:ph type="body" idx="1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ab9aec736a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6" name="Google Shape;286;g3ab9aec736a_0_689:notes"/>
          <p:cNvSpPr txBox="1">
            <a:spLocks noGrp="1"/>
          </p:cNvSpPr>
          <p:nvPr>
            <p:ph type="body" idx="1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ab9aec736a_0_1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5" name="Google Shape;295;g3ab9aec736a_0_1214:notes"/>
          <p:cNvSpPr txBox="1">
            <a:spLocks noGrp="1"/>
          </p:cNvSpPr>
          <p:nvPr>
            <p:ph type="body" idx="1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ab9aec736a_0_29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9" name="Google Shape;329;g3ab9aec736a_0_2948:notes"/>
          <p:cNvSpPr txBox="1">
            <a:spLocks noGrp="1"/>
          </p:cNvSpPr>
          <p:nvPr>
            <p:ph type="body" idx="1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ab9aec736a_0_3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4" name="Google Shape;334;g3ab9aec736a_0_3185:notes"/>
          <p:cNvSpPr txBox="1">
            <a:spLocks noGrp="1"/>
          </p:cNvSpPr>
          <p:nvPr>
            <p:ph type="body" idx="1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ae08416131_0_4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2" name="Google Shape;352;g3ae08416131_0_419:notes"/>
          <p:cNvSpPr txBox="1">
            <a:spLocks noGrp="1"/>
          </p:cNvSpPr>
          <p:nvPr>
            <p:ph type="body" idx="1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ab9aec736a_0_3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3" name="Google Shape;363;g3ab9aec736a_0_3237:notes"/>
          <p:cNvSpPr txBox="1">
            <a:spLocks noGrp="1"/>
          </p:cNvSpPr>
          <p:nvPr>
            <p:ph type="body" idx="1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ab9aec736a_0_37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5" name="Google Shape;385;g3ab9aec736a_0_3763:notes"/>
          <p:cNvSpPr txBox="1">
            <a:spLocks noGrp="1"/>
          </p:cNvSpPr>
          <p:nvPr>
            <p:ph type="body" idx="1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ae08416131_0_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8" name="Google Shape;438;g3ae08416131_0_317:notes"/>
          <p:cNvSpPr txBox="1">
            <a:spLocks noGrp="1"/>
          </p:cNvSpPr>
          <p:nvPr>
            <p:ph type="body" idx="1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ae08416131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5" name="Google Shape;445;g3ae08416131_0_323:notes"/>
          <p:cNvSpPr txBox="1">
            <a:spLocks noGrp="1"/>
          </p:cNvSpPr>
          <p:nvPr>
            <p:ph type="body" idx="1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ae08416131_0_3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1" name="Google Shape;451;g3ae08416131_0_328:notes"/>
          <p:cNvSpPr txBox="1">
            <a:spLocks noGrp="1"/>
          </p:cNvSpPr>
          <p:nvPr>
            <p:ph type="body" idx="1"/>
          </p:nvPr>
        </p:nvSpPr>
        <p:spPr>
          <a:xfrm>
            <a:off x="822950" y="6949425"/>
            <a:ext cx="6583800" cy="65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" name="Google Shape;12;p2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p3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" name="Google Shape;20;p4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5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7 master">
  <p:cSld name="Slide 7 mast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" name="Google Shape;28;p6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8 master">
  <p:cSld name="Slide 8 mast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" name="Google Shape;32;p7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9 master">
  <p:cSld name="Slide 9 master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" name="Google Shape;36;p8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0 master">
  <p:cSld name="Slide 10 master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" name="Google Shape;40;p9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3 master">
  <p:cSld name="Slide 13 mast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10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4 master">
  <p:cSld name="Slide 14 mast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" name="Google Shape;48;p11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5 master">
  <p:cSld name="Slide 15 mast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" name="Google Shape;52;p12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9 master">
  <p:cSld name="Slide 19 mast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" name="Google Shape;56;p13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>
            <a:spLocks noGrp="1"/>
          </p:cNvSpPr>
          <p:nvPr>
            <p:ph type="ctrTitle"/>
          </p:nvPr>
        </p:nvSpPr>
        <p:spPr>
          <a:xfrm>
            <a:off x="498733" y="1191320"/>
            <a:ext cx="13632900" cy="32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300"/>
              <a:buNone/>
              <a:defRPr sz="8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300"/>
              <a:buNone/>
              <a:defRPr sz="8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300"/>
              <a:buNone/>
              <a:defRPr sz="8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300"/>
              <a:buNone/>
              <a:defRPr sz="8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300"/>
              <a:buNone/>
              <a:defRPr sz="8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300"/>
              <a:buNone/>
              <a:defRPr sz="8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300"/>
              <a:buNone/>
              <a:defRPr sz="8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300"/>
              <a:buNone/>
              <a:defRPr sz="8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300"/>
              <a:buNone/>
              <a:defRPr sz="8300"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1"/>
          </p:nvPr>
        </p:nvSpPr>
        <p:spPr>
          <a:xfrm>
            <a:off x="498720" y="4534600"/>
            <a:ext cx="13632900" cy="126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sldNum" idx="12"/>
          </p:nvPr>
        </p:nvSpPr>
        <p:spPr>
          <a:xfrm>
            <a:off x="13555933" y="7461147"/>
            <a:ext cx="8778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>
            <a:spLocks noGrp="1"/>
          </p:cNvSpPr>
          <p:nvPr>
            <p:ph type="title"/>
          </p:nvPr>
        </p:nvSpPr>
        <p:spPr>
          <a:xfrm>
            <a:off x="498720" y="3441360"/>
            <a:ext cx="13632900" cy="13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5800"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13555933" y="7461147"/>
            <a:ext cx="8778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>
            <a:spLocks noGrp="1"/>
          </p:cNvSpPr>
          <p:nvPr>
            <p:ph type="title"/>
          </p:nvPr>
        </p:nvSpPr>
        <p:spPr>
          <a:xfrm>
            <a:off x="498720" y="712040"/>
            <a:ext cx="13632900" cy="91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body" idx="1"/>
          </p:nvPr>
        </p:nvSpPr>
        <p:spPr>
          <a:xfrm>
            <a:off x="498720" y="1843960"/>
            <a:ext cx="13632900" cy="54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t" anchorCtr="0">
            <a:normAutofit/>
          </a:bodyPr>
          <a:lstStyle>
            <a:lvl1pPr marL="457200" lvl="0" indent="-412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900"/>
              <a:buChar char="●"/>
              <a:defRPr/>
            </a:lvl1pPr>
            <a:lvl2pPr marL="914400" lvl="1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2pPr>
            <a:lvl3pPr marL="1371600" lvl="2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marL="1828800" lvl="3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4pPr>
            <a:lvl5pPr marL="2286000" lvl="4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5pPr>
            <a:lvl6pPr marL="2743200" lvl="5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6pPr>
            <a:lvl7pPr marL="3200400" lvl="6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7pPr>
            <a:lvl8pPr marL="3657600" lvl="7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8pPr>
            <a:lvl9pPr marL="4114800" lvl="8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sldNum" idx="12"/>
          </p:nvPr>
        </p:nvSpPr>
        <p:spPr>
          <a:xfrm>
            <a:off x="13555933" y="7461147"/>
            <a:ext cx="8778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7"/>
          <p:cNvSpPr txBox="1">
            <a:spLocks noGrp="1"/>
          </p:cNvSpPr>
          <p:nvPr>
            <p:ph type="title"/>
          </p:nvPr>
        </p:nvSpPr>
        <p:spPr>
          <a:xfrm>
            <a:off x="498720" y="712040"/>
            <a:ext cx="13632900" cy="91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498720" y="1843960"/>
            <a:ext cx="6399900" cy="54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t" anchorCtr="0">
            <a:normAutofit/>
          </a:bodyPr>
          <a:lstStyle>
            <a:lvl1pPr marL="457200" lvl="0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 sz="1900"/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 sz="1900"/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 sz="1900"/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 sz="1900"/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 sz="1900"/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 sz="19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body" idx="2"/>
          </p:nvPr>
        </p:nvSpPr>
        <p:spPr>
          <a:xfrm>
            <a:off x="7731840" y="1843960"/>
            <a:ext cx="6399900" cy="54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t" anchorCtr="0">
            <a:normAutofit/>
          </a:bodyPr>
          <a:lstStyle>
            <a:lvl1pPr marL="457200" lvl="0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 sz="1900"/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 sz="1900"/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 sz="1900"/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 sz="1900"/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 sz="1900"/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 sz="1900"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13555933" y="7461147"/>
            <a:ext cx="8778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8"/>
          <p:cNvSpPr txBox="1">
            <a:spLocks noGrp="1"/>
          </p:cNvSpPr>
          <p:nvPr>
            <p:ph type="title"/>
          </p:nvPr>
        </p:nvSpPr>
        <p:spPr>
          <a:xfrm>
            <a:off x="498720" y="712040"/>
            <a:ext cx="13632900" cy="91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sldNum" idx="12"/>
          </p:nvPr>
        </p:nvSpPr>
        <p:spPr>
          <a:xfrm>
            <a:off x="13555933" y="7461147"/>
            <a:ext cx="8778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title"/>
          </p:nvPr>
        </p:nvSpPr>
        <p:spPr>
          <a:xfrm>
            <a:off x="498720" y="888960"/>
            <a:ext cx="4492800" cy="12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body" idx="1"/>
          </p:nvPr>
        </p:nvSpPr>
        <p:spPr>
          <a:xfrm>
            <a:off x="498720" y="2223360"/>
            <a:ext cx="4492800" cy="508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t" anchorCtr="0">
            <a:norm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 sz="1900"/>
            </a:lvl2pPr>
            <a:lvl3pPr marL="1371600" lvl="2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 sz="1900"/>
            </a:lvl3pPr>
            <a:lvl4pPr marL="1828800" lvl="3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4pPr>
            <a:lvl5pPr marL="2286000" lvl="4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 sz="1900"/>
            </a:lvl5pPr>
            <a:lvl6pPr marL="2743200" lvl="5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 sz="1900"/>
            </a:lvl6pPr>
            <a:lvl7pPr marL="3200400" lvl="6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7pPr>
            <a:lvl8pPr marL="3657600" lvl="7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 sz="1900"/>
            </a:lvl8pPr>
            <a:lvl9pPr marL="4114800" lvl="8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 sz="1900"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13555933" y="7461147"/>
            <a:ext cx="8778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0"/>
          <p:cNvSpPr txBox="1">
            <a:spLocks noGrp="1"/>
          </p:cNvSpPr>
          <p:nvPr>
            <p:ph type="title"/>
          </p:nvPr>
        </p:nvSpPr>
        <p:spPr>
          <a:xfrm>
            <a:off x="784400" y="720240"/>
            <a:ext cx="10188600" cy="654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82" name="Google Shape;82;p20"/>
          <p:cNvSpPr txBox="1">
            <a:spLocks noGrp="1"/>
          </p:cNvSpPr>
          <p:nvPr>
            <p:ph type="sldNum" idx="12"/>
          </p:nvPr>
        </p:nvSpPr>
        <p:spPr>
          <a:xfrm>
            <a:off x="13555933" y="7461147"/>
            <a:ext cx="8778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1"/>
          <p:cNvSpPr/>
          <p:nvPr/>
        </p:nvSpPr>
        <p:spPr>
          <a:xfrm>
            <a:off x="7315200" y="-200"/>
            <a:ext cx="7315200" cy="8229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46275" tIns="146275" rIns="146275" bIns="146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21"/>
          <p:cNvSpPr txBox="1">
            <a:spLocks noGrp="1"/>
          </p:cNvSpPr>
          <p:nvPr>
            <p:ph type="title"/>
          </p:nvPr>
        </p:nvSpPr>
        <p:spPr>
          <a:xfrm>
            <a:off x="424800" y="1973080"/>
            <a:ext cx="6472200" cy="23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00"/>
              <a:buNone/>
              <a:defRPr sz="6700"/>
            </a:lvl9pPr>
          </a:lstStyle>
          <a:p>
            <a:endParaRPr/>
          </a:p>
        </p:txBody>
      </p:sp>
      <p:sp>
        <p:nvSpPr>
          <p:cNvPr id="86" name="Google Shape;86;p21"/>
          <p:cNvSpPr txBox="1">
            <a:spLocks noGrp="1"/>
          </p:cNvSpPr>
          <p:nvPr>
            <p:ph type="subTitle" idx="1"/>
          </p:nvPr>
        </p:nvSpPr>
        <p:spPr>
          <a:xfrm>
            <a:off x="424800" y="4484920"/>
            <a:ext cx="6472200" cy="19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3400"/>
            </a:lvl9pPr>
          </a:lstStyle>
          <a:p>
            <a:endParaRPr/>
          </a:p>
        </p:txBody>
      </p:sp>
      <p:sp>
        <p:nvSpPr>
          <p:cNvPr id="87" name="Google Shape;87;p21"/>
          <p:cNvSpPr txBox="1">
            <a:spLocks noGrp="1"/>
          </p:cNvSpPr>
          <p:nvPr>
            <p:ph type="body" idx="2"/>
          </p:nvPr>
        </p:nvSpPr>
        <p:spPr>
          <a:xfrm>
            <a:off x="7903200" y="1158520"/>
            <a:ext cx="6139200" cy="59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marL="457200" lvl="0" indent="-412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900"/>
              <a:buChar char="●"/>
              <a:defRPr/>
            </a:lvl1pPr>
            <a:lvl2pPr marL="914400" lvl="1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2pPr>
            <a:lvl3pPr marL="1371600" lvl="2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marL="1828800" lvl="3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4pPr>
            <a:lvl5pPr marL="2286000" lvl="4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5pPr>
            <a:lvl6pPr marL="2743200" lvl="5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6pPr>
            <a:lvl7pPr marL="3200400" lvl="6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7pPr>
            <a:lvl8pPr marL="3657600" lvl="7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8pPr>
            <a:lvl9pPr marL="4114800" lvl="8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9pPr>
          </a:lstStyle>
          <a:p>
            <a:endParaRPr/>
          </a:p>
        </p:txBody>
      </p:sp>
      <p:sp>
        <p:nvSpPr>
          <p:cNvPr id="88" name="Google Shape;88;p21"/>
          <p:cNvSpPr txBox="1">
            <a:spLocks noGrp="1"/>
          </p:cNvSpPr>
          <p:nvPr>
            <p:ph type="sldNum" idx="12"/>
          </p:nvPr>
        </p:nvSpPr>
        <p:spPr>
          <a:xfrm>
            <a:off x="13555933" y="7461147"/>
            <a:ext cx="8778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2"/>
          <p:cNvSpPr txBox="1">
            <a:spLocks noGrp="1"/>
          </p:cNvSpPr>
          <p:nvPr>
            <p:ph type="body" idx="1"/>
          </p:nvPr>
        </p:nvSpPr>
        <p:spPr>
          <a:xfrm>
            <a:off x="498720" y="6768920"/>
            <a:ext cx="9598200" cy="96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/>
            </a:lvl1pPr>
          </a:lstStyle>
          <a:p>
            <a:endParaRPr/>
          </a:p>
        </p:txBody>
      </p:sp>
      <p:sp>
        <p:nvSpPr>
          <p:cNvPr id="91" name="Google Shape;91;p22"/>
          <p:cNvSpPr txBox="1">
            <a:spLocks noGrp="1"/>
          </p:cNvSpPr>
          <p:nvPr>
            <p:ph type="sldNum" idx="12"/>
          </p:nvPr>
        </p:nvSpPr>
        <p:spPr>
          <a:xfrm>
            <a:off x="13555933" y="7461147"/>
            <a:ext cx="8778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3"/>
          <p:cNvSpPr txBox="1">
            <a:spLocks noGrp="1"/>
          </p:cNvSpPr>
          <p:nvPr>
            <p:ph type="title" hasCustomPrompt="1"/>
          </p:nvPr>
        </p:nvSpPr>
        <p:spPr>
          <a:xfrm>
            <a:off x="498720" y="1769800"/>
            <a:ext cx="13632900" cy="31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>
            <a:r>
              <a:t>xx%</a:t>
            </a:r>
          </a:p>
        </p:txBody>
      </p:sp>
      <p:sp>
        <p:nvSpPr>
          <p:cNvPr id="94" name="Google Shape;94;p23"/>
          <p:cNvSpPr txBox="1">
            <a:spLocks noGrp="1"/>
          </p:cNvSpPr>
          <p:nvPr>
            <p:ph type="body" idx="1"/>
          </p:nvPr>
        </p:nvSpPr>
        <p:spPr>
          <a:xfrm>
            <a:off x="498720" y="5043560"/>
            <a:ext cx="13632900" cy="20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t" anchorCtr="0">
            <a:normAutofit/>
          </a:bodyPr>
          <a:lstStyle>
            <a:lvl1pPr marL="457200" lvl="0" indent="-4127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900"/>
              <a:buChar char="●"/>
              <a:defRPr/>
            </a:lvl1pPr>
            <a:lvl2pPr marL="914400" lvl="1" indent="-3683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2pPr>
            <a:lvl3pPr marL="1371600" lvl="2" indent="-3683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marL="1828800" lvl="3" indent="-3683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4pPr>
            <a:lvl5pPr marL="2286000" lvl="4" indent="-3683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5pPr>
            <a:lvl6pPr marL="2743200" lvl="5" indent="-3683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6pPr>
            <a:lvl7pPr marL="3200400" lvl="6" indent="-3683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7pPr>
            <a:lvl8pPr marL="3657600" lvl="7" indent="-3683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8pPr>
            <a:lvl9pPr marL="4114800" lvl="8" indent="-3683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9pPr>
          </a:lstStyle>
          <a:p>
            <a:endParaRPr/>
          </a:p>
        </p:txBody>
      </p:sp>
      <p:sp>
        <p:nvSpPr>
          <p:cNvPr id="95" name="Google Shape;95;p23"/>
          <p:cNvSpPr txBox="1">
            <a:spLocks noGrp="1"/>
          </p:cNvSpPr>
          <p:nvPr>
            <p:ph type="sldNum" idx="12"/>
          </p:nvPr>
        </p:nvSpPr>
        <p:spPr>
          <a:xfrm>
            <a:off x="13555933" y="7461147"/>
            <a:ext cx="8778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4"/>
          <p:cNvSpPr txBox="1">
            <a:spLocks noGrp="1"/>
          </p:cNvSpPr>
          <p:nvPr>
            <p:ph type="sldNum" idx="12"/>
          </p:nvPr>
        </p:nvSpPr>
        <p:spPr>
          <a:xfrm>
            <a:off x="13555933" y="7461147"/>
            <a:ext cx="8778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7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12618600" cy="15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7"/>
          <p:cNvSpPr txBox="1">
            <a:spLocks noGrp="1"/>
          </p:cNvSpPr>
          <p:nvPr>
            <p:ph type="body" idx="1"/>
          </p:nvPr>
        </p:nvSpPr>
        <p:spPr>
          <a:xfrm>
            <a:off x="1005840" y="2190750"/>
            <a:ext cx="12618600" cy="52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marL="457200" lvl="0" indent="-3683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1pPr>
            <a:lvl2pPr marL="914400" lvl="1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2pPr>
            <a:lvl3pPr marL="1371600" lvl="2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3pPr>
            <a:lvl4pPr marL="1828800" lvl="3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4pPr>
            <a:lvl5pPr marL="2286000" lvl="4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5pPr>
            <a:lvl6pPr marL="2743200" lvl="5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3200400" lvl="6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657600" lvl="7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4114800" lvl="8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endParaRPr/>
          </a:p>
        </p:txBody>
      </p:sp>
      <p:sp>
        <p:nvSpPr>
          <p:cNvPr id="108" name="Google Shape;108;p27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7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7"/>
          <p:cNvSpPr txBox="1">
            <a:spLocks noGrp="1"/>
          </p:cNvSpPr>
          <p:nvPr>
            <p:ph type="sldNum" idx="12"/>
          </p:nvPr>
        </p:nvSpPr>
        <p:spPr>
          <a:xfrm>
            <a:off x="1033272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12618600" cy="15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31"/>
          <p:cNvSpPr txBox="1">
            <a:spLocks noGrp="1"/>
          </p:cNvSpPr>
          <p:nvPr>
            <p:ph type="body" idx="1"/>
          </p:nvPr>
        </p:nvSpPr>
        <p:spPr>
          <a:xfrm>
            <a:off x="1005840" y="2190750"/>
            <a:ext cx="6217800" cy="52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marL="457200" lvl="0" indent="-3683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1pPr>
            <a:lvl2pPr marL="914400" lvl="1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2pPr>
            <a:lvl3pPr marL="1371600" lvl="2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3pPr>
            <a:lvl4pPr marL="1828800" lvl="3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4pPr>
            <a:lvl5pPr marL="2286000" lvl="4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5pPr>
            <a:lvl6pPr marL="2743200" lvl="5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3200400" lvl="6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657600" lvl="7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4114800" lvl="8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31"/>
          <p:cNvSpPr txBox="1">
            <a:spLocks noGrp="1"/>
          </p:cNvSpPr>
          <p:nvPr>
            <p:ph type="body" idx="2"/>
          </p:nvPr>
        </p:nvSpPr>
        <p:spPr>
          <a:xfrm>
            <a:off x="7406640" y="2190750"/>
            <a:ext cx="6217800" cy="52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marL="457200" lvl="0" indent="-3683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1pPr>
            <a:lvl2pPr marL="914400" lvl="1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2pPr>
            <a:lvl3pPr marL="1371600" lvl="2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3pPr>
            <a:lvl4pPr marL="1828800" lvl="3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4pPr>
            <a:lvl5pPr marL="2286000" lvl="4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5pPr>
            <a:lvl6pPr marL="2743200" lvl="5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3200400" lvl="6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657600" lvl="7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4114800" lvl="8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31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31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31"/>
          <p:cNvSpPr txBox="1">
            <a:spLocks noGrp="1"/>
          </p:cNvSpPr>
          <p:nvPr>
            <p:ph type="sldNum" idx="12"/>
          </p:nvPr>
        </p:nvSpPr>
        <p:spPr>
          <a:xfrm>
            <a:off x="1033272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2"/>
          <p:cNvSpPr txBox="1">
            <a:spLocks noGrp="1"/>
          </p:cNvSpPr>
          <p:nvPr>
            <p:ph type="title"/>
          </p:nvPr>
        </p:nvSpPr>
        <p:spPr>
          <a:xfrm>
            <a:off x="1007746" y="438150"/>
            <a:ext cx="12618600" cy="15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32"/>
          <p:cNvSpPr txBox="1">
            <a:spLocks noGrp="1"/>
          </p:cNvSpPr>
          <p:nvPr>
            <p:ph type="body" idx="1"/>
          </p:nvPr>
        </p:nvSpPr>
        <p:spPr>
          <a:xfrm>
            <a:off x="1007746" y="2017396"/>
            <a:ext cx="6189300" cy="9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 b="1"/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 b="1"/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 b="1"/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 b="1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 b="1"/>
            </a:lvl6pPr>
            <a:lvl7pPr marL="3200400" lvl="6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 b="1"/>
            </a:lvl7pPr>
            <a:lvl8pPr marL="3657600" lvl="7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 b="1"/>
            </a:lvl8pPr>
            <a:lvl9pPr marL="4114800" lvl="8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 b="1"/>
            </a:lvl9pPr>
          </a:lstStyle>
          <a:p>
            <a:endParaRPr/>
          </a:p>
        </p:txBody>
      </p:sp>
      <p:sp>
        <p:nvSpPr>
          <p:cNvPr id="137" name="Google Shape;137;p32"/>
          <p:cNvSpPr txBox="1">
            <a:spLocks noGrp="1"/>
          </p:cNvSpPr>
          <p:nvPr>
            <p:ph type="body" idx="2"/>
          </p:nvPr>
        </p:nvSpPr>
        <p:spPr>
          <a:xfrm>
            <a:off x="1007746" y="3006090"/>
            <a:ext cx="6189300" cy="44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marL="457200" lvl="0" indent="-3683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1pPr>
            <a:lvl2pPr marL="914400" lvl="1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2pPr>
            <a:lvl3pPr marL="1371600" lvl="2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3pPr>
            <a:lvl4pPr marL="1828800" lvl="3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4pPr>
            <a:lvl5pPr marL="2286000" lvl="4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5pPr>
            <a:lvl6pPr marL="2743200" lvl="5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3200400" lvl="6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657600" lvl="7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4114800" lvl="8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32"/>
          <p:cNvSpPr txBox="1">
            <a:spLocks noGrp="1"/>
          </p:cNvSpPr>
          <p:nvPr>
            <p:ph type="body" idx="3"/>
          </p:nvPr>
        </p:nvSpPr>
        <p:spPr>
          <a:xfrm>
            <a:off x="7406640" y="2017396"/>
            <a:ext cx="6219900" cy="9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 b="1"/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 b="1"/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 b="1"/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 b="1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 b="1"/>
            </a:lvl6pPr>
            <a:lvl7pPr marL="3200400" lvl="6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 b="1"/>
            </a:lvl7pPr>
            <a:lvl8pPr marL="3657600" lvl="7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 b="1"/>
            </a:lvl8pPr>
            <a:lvl9pPr marL="4114800" lvl="8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 b="1"/>
            </a:lvl9pPr>
          </a:lstStyle>
          <a:p>
            <a:endParaRPr/>
          </a:p>
        </p:txBody>
      </p:sp>
      <p:sp>
        <p:nvSpPr>
          <p:cNvPr id="139" name="Google Shape;139;p32"/>
          <p:cNvSpPr txBox="1">
            <a:spLocks noGrp="1"/>
          </p:cNvSpPr>
          <p:nvPr>
            <p:ph type="body" idx="4"/>
          </p:nvPr>
        </p:nvSpPr>
        <p:spPr>
          <a:xfrm>
            <a:off x="7406640" y="3006090"/>
            <a:ext cx="6219900" cy="44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marL="457200" lvl="0" indent="-3683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1pPr>
            <a:lvl2pPr marL="914400" lvl="1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2pPr>
            <a:lvl3pPr marL="1371600" lvl="2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3pPr>
            <a:lvl4pPr marL="1828800" lvl="3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4pPr>
            <a:lvl5pPr marL="2286000" lvl="4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5pPr>
            <a:lvl6pPr marL="2743200" lvl="5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3200400" lvl="6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657600" lvl="7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4114800" lvl="8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p32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32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32"/>
          <p:cNvSpPr txBox="1">
            <a:spLocks noGrp="1"/>
          </p:cNvSpPr>
          <p:nvPr>
            <p:ph type="sldNum" idx="12"/>
          </p:nvPr>
        </p:nvSpPr>
        <p:spPr>
          <a:xfrm>
            <a:off x="1033272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3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12618600" cy="15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33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33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33"/>
          <p:cNvSpPr txBox="1">
            <a:spLocks noGrp="1"/>
          </p:cNvSpPr>
          <p:nvPr>
            <p:ph type="sldNum" idx="12"/>
          </p:nvPr>
        </p:nvSpPr>
        <p:spPr>
          <a:xfrm>
            <a:off x="1033272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4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34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34"/>
          <p:cNvSpPr txBox="1">
            <a:spLocks noGrp="1"/>
          </p:cNvSpPr>
          <p:nvPr>
            <p:ph type="sldNum" idx="12"/>
          </p:nvPr>
        </p:nvSpPr>
        <p:spPr>
          <a:xfrm>
            <a:off x="1033272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5"/>
          <p:cNvSpPr txBox="1">
            <a:spLocks noGrp="1"/>
          </p:cNvSpPr>
          <p:nvPr>
            <p:ph type="title"/>
          </p:nvPr>
        </p:nvSpPr>
        <p:spPr>
          <a:xfrm>
            <a:off x="1007746" y="548640"/>
            <a:ext cx="4718700" cy="19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Play"/>
              <a:buNone/>
              <a:defRPr sz="3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35"/>
          <p:cNvSpPr txBox="1">
            <a:spLocks noGrp="1"/>
          </p:cNvSpPr>
          <p:nvPr>
            <p:ph type="body" idx="1"/>
          </p:nvPr>
        </p:nvSpPr>
        <p:spPr>
          <a:xfrm>
            <a:off x="6219826" y="1184910"/>
            <a:ext cx="7406700" cy="58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marL="457200" lvl="0" indent="-469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800"/>
              <a:buChar char="•"/>
              <a:defRPr sz="3800"/>
            </a:lvl1pPr>
            <a:lvl2pPr marL="914400" lvl="1" indent="-444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400"/>
              <a:buChar char="•"/>
              <a:defRPr sz="3400"/>
            </a:lvl2pPr>
            <a:lvl3pPr marL="1371600" lvl="2" indent="-41275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900"/>
              <a:buChar char="•"/>
              <a:defRPr sz="2900"/>
            </a:lvl3pPr>
            <a:lvl4pPr marL="1828800" lvl="3" indent="-381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4pPr>
            <a:lvl5pPr marL="2286000" lvl="4" indent="-381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5pPr>
            <a:lvl6pPr marL="2743200" lvl="5" indent="-381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6pPr>
            <a:lvl7pPr marL="3200400" lvl="6" indent="-381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7pPr>
            <a:lvl8pPr marL="3657600" lvl="7" indent="-381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8pPr>
            <a:lvl9pPr marL="4114800" lvl="8" indent="-381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9pPr>
          </a:lstStyle>
          <a:p>
            <a:endParaRPr/>
          </a:p>
        </p:txBody>
      </p:sp>
      <p:sp>
        <p:nvSpPr>
          <p:cNvPr id="155" name="Google Shape;155;p35"/>
          <p:cNvSpPr txBox="1">
            <a:spLocks noGrp="1"/>
          </p:cNvSpPr>
          <p:nvPr>
            <p:ph type="body" idx="2"/>
          </p:nvPr>
        </p:nvSpPr>
        <p:spPr>
          <a:xfrm>
            <a:off x="1007746" y="2468880"/>
            <a:ext cx="4718700" cy="4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/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marL="3200400" lvl="6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marL="3657600" lvl="7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marL="4114800" lvl="8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56" name="Google Shape;156;p35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35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35"/>
          <p:cNvSpPr txBox="1">
            <a:spLocks noGrp="1"/>
          </p:cNvSpPr>
          <p:nvPr>
            <p:ph type="sldNum" idx="12"/>
          </p:nvPr>
        </p:nvSpPr>
        <p:spPr>
          <a:xfrm>
            <a:off x="1033272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6"/>
          <p:cNvSpPr txBox="1">
            <a:spLocks noGrp="1"/>
          </p:cNvSpPr>
          <p:nvPr>
            <p:ph type="title"/>
          </p:nvPr>
        </p:nvSpPr>
        <p:spPr>
          <a:xfrm>
            <a:off x="1007746" y="548640"/>
            <a:ext cx="4718700" cy="19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Play"/>
              <a:buNone/>
              <a:defRPr sz="3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36"/>
          <p:cNvSpPr>
            <a:spLocks noGrp="1"/>
          </p:cNvSpPr>
          <p:nvPr>
            <p:ph type="pic" idx="2"/>
          </p:nvPr>
        </p:nvSpPr>
        <p:spPr>
          <a:xfrm>
            <a:off x="6219826" y="1184910"/>
            <a:ext cx="7406700" cy="5848500"/>
          </a:xfrm>
          <a:prstGeom prst="rect">
            <a:avLst/>
          </a:prstGeom>
          <a:noFill/>
          <a:ln>
            <a:noFill/>
          </a:ln>
        </p:spPr>
      </p:sp>
      <p:sp>
        <p:nvSpPr>
          <p:cNvPr id="162" name="Google Shape;162;p36"/>
          <p:cNvSpPr txBox="1">
            <a:spLocks noGrp="1"/>
          </p:cNvSpPr>
          <p:nvPr>
            <p:ph type="body" idx="1"/>
          </p:nvPr>
        </p:nvSpPr>
        <p:spPr>
          <a:xfrm>
            <a:off x="1007746" y="2468880"/>
            <a:ext cx="4718700" cy="45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/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marL="3200400" lvl="6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marL="3657600" lvl="7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marL="4114800" lvl="8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63" name="Google Shape;163;p36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36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36"/>
          <p:cNvSpPr txBox="1">
            <a:spLocks noGrp="1"/>
          </p:cNvSpPr>
          <p:nvPr>
            <p:ph type="sldNum" idx="12"/>
          </p:nvPr>
        </p:nvSpPr>
        <p:spPr>
          <a:xfrm>
            <a:off x="1033272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7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12618600" cy="15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37"/>
          <p:cNvSpPr txBox="1">
            <a:spLocks noGrp="1"/>
          </p:cNvSpPr>
          <p:nvPr>
            <p:ph type="body" idx="1"/>
          </p:nvPr>
        </p:nvSpPr>
        <p:spPr>
          <a:xfrm rot="5400000">
            <a:off x="4704510" y="-1507800"/>
            <a:ext cx="5221500" cy="126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marL="457200" lvl="0" indent="-3683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1pPr>
            <a:lvl2pPr marL="914400" lvl="1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2pPr>
            <a:lvl3pPr marL="1371600" lvl="2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3pPr>
            <a:lvl4pPr marL="1828800" lvl="3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4pPr>
            <a:lvl5pPr marL="2286000" lvl="4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5pPr>
            <a:lvl6pPr marL="2743200" lvl="5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3200400" lvl="6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657600" lvl="7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4114800" lvl="8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37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37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37"/>
          <p:cNvSpPr txBox="1">
            <a:spLocks noGrp="1"/>
          </p:cNvSpPr>
          <p:nvPr>
            <p:ph type="sldNum" idx="12"/>
          </p:nvPr>
        </p:nvSpPr>
        <p:spPr>
          <a:xfrm>
            <a:off x="1033272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o e Título Vertical" type="vertTitleAndTx">
  <p:cSld name="VERTICAL_TITLE_AND_VERTICAL_TEX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8"/>
          <p:cNvSpPr txBox="1">
            <a:spLocks noGrp="1"/>
          </p:cNvSpPr>
          <p:nvPr>
            <p:ph type="title"/>
          </p:nvPr>
        </p:nvSpPr>
        <p:spPr>
          <a:xfrm rot="5400000">
            <a:off x="8560110" y="2347800"/>
            <a:ext cx="6974100" cy="31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38"/>
          <p:cNvSpPr txBox="1">
            <a:spLocks noGrp="1"/>
          </p:cNvSpPr>
          <p:nvPr>
            <p:ph type="body" idx="1"/>
          </p:nvPr>
        </p:nvSpPr>
        <p:spPr>
          <a:xfrm rot="5400000">
            <a:off x="2159400" y="-715350"/>
            <a:ext cx="6974100" cy="92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marL="457200" lvl="0" indent="-3683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1pPr>
            <a:lvl2pPr marL="914400" lvl="1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2pPr>
            <a:lvl3pPr marL="1371600" lvl="2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3pPr>
            <a:lvl4pPr marL="1828800" lvl="3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4pPr>
            <a:lvl5pPr marL="2286000" lvl="4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5pPr>
            <a:lvl6pPr marL="2743200" lvl="5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3200400" lvl="6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657600" lvl="7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4114800" lvl="8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38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38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38"/>
          <p:cNvSpPr txBox="1">
            <a:spLocks noGrp="1"/>
          </p:cNvSpPr>
          <p:nvPr>
            <p:ph type="sldNum" idx="12"/>
          </p:nvPr>
        </p:nvSpPr>
        <p:spPr>
          <a:xfrm>
            <a:off x="1033272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4 master">
  <p:cSld name="Slide 14 master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" name="Google Shape;181;p39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9 master">
  <p:cSld name="Slide 19 master"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4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4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5" name="Google Shape;185;p40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Google Shape;114;p28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39215" y="7749540"/>
            <a:ext cx="1722604" cy="4114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4606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98720" y="712040"/>
            <a:ext cx="13632900" cy="91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98720" y="1843960"/>
            <a:ext cx="13632900" cy="54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t" anchorCtr="0">
            <a:normAutofit/>
          </a:bodyPr>
          <a:lstStyle>
            <a:lvl1pPr marL="457200" marR="0" lvl="0" indent="-412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900"/>
              <a:buFont typeface="Arial"/>
              <a:buChar char="●"/>
              <a:defRPr sz="2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Arial"/>
              <a:buChar char="○"/>
              <a:defRPr sz="2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Arial"/>
              <a:buChar char="■"/>
              <a:defRPr sz="2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Arial"/>
              <a:buChar char="●"/>
              <a:defRPr sz="2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Arial"/>
              <a:buChar char="○"/>
              <a:defRPr sz="2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Arial"/>
              <a:buChar char="■"/>
              <a:defRPr sz="2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Arial"/>
              <a:buChar char="●"/>
              <a:defRPr sz="2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Arial"/>
              <a:buChar char="○"/>
              <a:defRPr sz="2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Arial"/>
              <a:buChar char="■"/>
              <a:defRPr sz="2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3555933" y="7461147"/>
            <a:ext cx="8778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6275" tIns="146275" rIns="146275" bIns="14627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6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12618600" cy="15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Play"/>
              <a:buNone/>
              <a:defRPr sz="53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1" name="Google Shape;101;p26"/>
          <p:cNvSpPr txBox="1">
            <a:spLocks noGrp="1"/>
          </p:cNvSpPr>
          <p:nvPr>
            <p:ph type="body" idx="1"/>
          </p:nvPr>
        </p:nvSpPr>
        <p:spPr>
          <a:xfrm>
            <a:off x="1005840" y="2190750"/>
            <a:ext cx="12618600" cy="52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marL="457200" marR="0" lvl="0" indent="-444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Char char="•"/>
              <a:defRPr sz="3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1275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Char char="•"/>
              <a:defRPr sz="2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2" name="Google Shape;102;p26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3" name="Google Shape;103;p26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4" name="Google Shape;104;p26"/>
          <p:cNvSpPr txBox="1">
            <a:spLocks noGrp="1"/>
          </p:cNvSpPr>
          <p:nvPr>
            <p:ph type="sldNum" idx="12"/>
          </p:nvPr>
        </p:nvSpPr>
        <p:spPr>
          <a:xfrm>
            <a:off x="1033272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8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41"/>
          <p:cNvSpPr/>
          <p:nvPr/>
        </p:nvSpPr>
        <p:spPr>
          <a:xfrm>
            <a:off x="5500987" y="1926786"/>
            <a:ext cx="8655000" cy="18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476"/>
              </a:lnSpc>
              <a:spcBef>
                <a:spcPts val="0"/>
              </a:spcBef>
              <a:spcAft>
                <a:spcPts val="0"/>
              </a:spcAft>
              <a:buClr>
                <a:srgbClr val="201B18"/>
              </a:buClr>
              <a:buSzPts val="4200"/>
              <a:buFont typeface="Arial"/>
              <a:buNone/>
            </a:pPr>
            <a:r>
              <a:rPr lang="pt-BR" sz="2800" b="1" i="0" u="none" strike="noStrike" cap="none" noProof="0" dirty="0">
                <a:solidFill>
                  <a:srgbClr val="201B18"/>
                </a:solidFill>
                <a:latin typeface="Arial"/>
                <a:ea typeface="Arial"/>
                <a:cs typeface="Arial"/>
                <a:sym typeface="Arial"/>
              </a:rPr>
              <a:t>IMPLEMENTAÇÃO DE UM GERADOR AUTOMÁTICO DE DESAFIOS DE ALGORITMOS UTILIZANDO IA GENERATIVA E ELEMENTOS DE GAMIFICAÇÃO</a:t>
            </a:r>
            <a:endParaRPr lang="pt-BR" sz="2800" b="1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41"/>
          <p:cNvSpPr/>
          <p:nvPr/>
        </p:nvSpPr>
        <p:spPr>
          <a:xfrm>
            <a:off x="5500975" y="4494135"/>
            <a:ext cx="9058200" cy="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850"/>
              <a:buFont typeface="Arial"/>
              <a:buNone/>
            </a:pPr>
            <a:r>
              <a:rPr lang="pt-BR" sz="1850" b="1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Alunos : </a:t>
            </a:r>
            <a:r>
              <a:rPr lang="pt-BR" sz="1850" b="1" noProof="0" dirty="0">
                <a:solidFill>
                  <a:srgbClr val="504C49"/>
                </a:solidFill>
              </a:rPr>
              <a:t>Ryan Ramos da Silva e Vitor Augusto Silva Fongaro</a:t>
            </a:r>
            <a:endParaRPr lang="pt-BR" sz="1850" b="0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1"/>
          <p:cNvSpPr/>
          <p:nvPr/>
        </p:nvSpPr>
        <p:spPr>
          <a:xfrm>
            <a:off x="5500975" y="5034918"/>
            <a:ext cx="9058200" cy="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850"/>
              <a:buFont typeface="Arial"/>
              <a:buNone/>
            </a:pPr>
            <a:r>
              <a:rPr lang="pt-BR" sz="1850" b="1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Orientador : Prof. Dr. João Luís Cardoso de Moraes</a:t>
            </a:r>
            <a:endParaRPr lang="pt-BR" sz="1850" b="0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41"/>
          <p:cNvSpPr/>
          <p:nvPr/>
        </p:nvSpPr>
        <p:spPr>
          <a:xfrm>
            <a:off x="5500975" y="5575700"/>
            <a:ext cx="9058200" cy="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850"/>
              <a:buFont typeface="Arial"/>
              <a:buNone/>
            </a:pPr>
            <a:r>
              <a:rPr lang="pt-BR" sz="1850" b="1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Centro Universitário de Lins - UNILINS</a:t>
            </a:r>
            <a:endParaRPr lang="pt-BR" sz="1850" b="0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41" descr="UNILINS - Kit Mídia Unilins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19955" y="342450"/>
            <a:ext cx="3113069" cy="1269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850F223-11FF-F711-0CCA-CD49F88F57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334978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42"/>
          <p:cNvSpPr txBox="1">
            <a:spLocks noGrp="1"/>
          </p:cNvSpPr>
          <p:nvPr>
            <p:ph type="title"/>
          </p:nvPr>
        </p:nvSpPr>
        <p:spPr>
          <a:xfrm>
            <a:off x="5903824" y="315583"/>
            <a:ext cx="8463689" cy="1867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850"/>
              <a:buFont typeface="Play"/>
              <a:buNone/>
            </a:pPr>
            <a:r>
              <a:rPr lang="pt-BR" sz="2500" b="1" noProof="0" dirty="0">
                <a:solidFill>
                  <a:srgbClr val="000000"/>
                </a:solidFill>
                <a:latin typeface="Arial"/>
              </a:rPr>
              <a:t>O problema no ensino de lógica de programação</a:t>
            </a:r>
            <a:endParaRPr lang="pt-BR" sz="4720" b="1" noProof="0" dirty="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3" name="Google Shape;203;p42"/>
          <p:cNvGrpSpPr/>
          <p:nvPr/>
        </p:nvGrpSpPr>
        <p:grpSpPr>
          <a:xfrm>
            <a:off x="5903825" y="3483131"/>
            <a:ext cx="8463688" cy="1832775"/>
            <a:chOff x="-132366" y="810114"/>
            <a:chExt cx="7053073" cy="918132"/>
          </a:xfrm>
        </p:grpSpPr>
        <p:sp>
          <p:nvSpPr>
            <p:cNvPr id="204" name="Google Shape;204;p42"/>
            <p:cNvSpPr txBox="1"/>
            <p:nvPr/>
          </p:nvSpPr>
          <p:spPr>
            <a:xfrm>
              <a:off x="-132366" y="821646"/>
              <a:ext cx="1962000" cy="906600"/>
            </a:xfrm>
            <a:prstGeom prst="rect">
              <a:avLst/>
            </a:prstGeom>
            <a:solidFill>
              <a:srgbClr val="307AF3"/>
            </a:solidFill>
            <a:ln>
              <a:noFill/>
            </a:ln>
          </p:spPr>
          <p:txBody>
            <a:bodyPr spcFirstLastPara="1" wrap="square" lIns="45725" tIns="30475" rIns="45725" bIns="30475" anchor="ctr" anchorCtr="0">
              <a:norm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400"/>
                <a:buFont typeface="Arial"/>
                <a:buNone/>
              </a:pPr>
              <a:r>
                <a:rPr lang="pt-BR" sz="1200" b="1" noProof="0" dirty="0">
                  <a:solidFill>
                    <a:srgbClr val="FFFFFF"/>
                  </a:solidFill>
                  <a:latin typeface="Arial"/>
                </a:rPr>
                <a:t>Dificuldade com</a:t>
              </a:r>
              <a:endParaRPr lang="pt-BR" sz="1600" b="1" i="0" u="none" strike="noStrike" cap="none" noProof="0" dirty="0">
                <a:solidFill>
                  <a:srgbClr val="000000"/>
                </a:solidFill>
              </a:endParaRPr>
            </a:p>
            <a:p>
              <a:pPr algn="ctr"/>
              <a:r>
                <a:rPr lang="pt-BR" sz="1200" b="1" noProof="0" dirty="0">
                  <a:solidFill>
                    <a:srgbClr val="FFFFFF"/>
                  </a:solidFill>
                  <a:latin typeface="Arial"/>
                </a:rPr>
                <a:t>conceitos abstratos</a:t>
              </a:r>
            </a:p>
          </p:txBody>
        </p:sp>
        <p:sp>
          <p:nvSpPr>
            <p:cNvPr id="205" name="Google Shape;205;p42"/>
            <p:cNvSpPr txBox="1"/>
            <p:nvPr/>
          </p:nvSpPr>
          <p:spPr>
            <a:xfrm>
              <a:off x="2393984" y="810114"/>
              <a:ext cx="1962000" cy="906600"/>
            </a:xfrm>
            <a:prstGeom prst="rect">
              <a:avLst/>
            </a:prstGeom>
            <a:solidFill>
              <a:srgbClr val="307AF3"/>
            </a:solidFill>
            <a:ln>
              <a:noFill/>
            </a:ln>
          </p:spPr>
          <p:txBody>
            <a:bodyPr spcFirstLastPara="1" wrap="square" lIns="41125" tIns="27425" rIns="41125" bIns="27425" anchor="ctr" anchorCtr="0">
              <a:norm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200"/>
                <a:buFont typeface="Arial"/>
                <a:buNone/>
              </a:pPr>
              <a:r>
                <a:rPr lang="pt-BR" sz="1200" b="1" noProof="0" dirty="0">
                  <a:solidFill>
                    <a:srgbClr val="FFFFFF"/>
                  </a:solidFill>
                  <a:latin typeface="Arial"/>
                </a:rPr>
                <a:t>Exercícios estáticos</a:t>
              </a:r>
              <a:endParaRPr lang="pt-BR" sz="1600" b="1" i="0" u="none" strike="noStrike" cap="none" noProof="0" dirty="0">
                <a:solidFill>
                  <a:srgbClr val="000000"/>
                </a:solidFill>
              </a:endParaRPr>
            </a:p>
            <a:p>
              <a:pPr algn="ctr"/>
              <a:r>
                <a:rPr lang="pt-BR" sz="1200" b="1" noProof="0" dirty="0">
                  <a:solidFill>
                    <a:srgbClr val="FFFFFF"/>
                  </a:solidFill>
                  <a:latin typeface="Arial"/>
                </a:rPr>
                <a:t>e pouco adaptáveis</a:t>
              </a:r>
            </a:p>
          </p:txBody>
        </p:sp>
        <p:sp>
          <p:nvSpPr>
            <p:cNvPr id="206" name="Google Shape;206;p42"/>
            <p:cNvSpPr txBox="1"/>
            <p:nvPr/>
          </p:nvSpPr>
          <p:spPr>
            <a:xfrm>
              <a:off x="4958708" y="810114"/>
              <a:ext cx="1962000" cy="906600"/>
            </a:xfrm>
            <a:prstGeom prst="rect">
              <a:avLst/>
            </a:prstGeom>
            <a:solidFill>
              <a:srgbClr val="307AF3"/>
            </a:solidFill>
            <a:ln>
              <a:noFill/>
            </a:ln>
          </p:spPr>
          <p:txBody>
            <a:bodyPr spcFirstLastPara="1" wrap="square" lIns="45725" tIns="30475" rIns="45725" bIns="30475" anchor="ctr" anchorCtr="0">
              <a:norm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400"/>
                <a:buFont typeface="Arial"/>
                <a:buNone/>
              </a:pPr>
              <a:r>
                <a:rPr lang="pt-BR" sz="1200" b="1" noProof="0" dirty="0">
                  <a:solidFill>
                    <a:srgbClr val="FFFFFF"/>
                  </a:solidFill>
                  <a:latin typeface="Arial"/>
                </a:rPr>
                <a:t>Baixo engajamento</a:t>
              </a:r>
              <a:endParaRPr lang="pt-BR" sz="1600" b="1" i="0" u="none" strike="noStrike" cap="none" noProof="0" dirty="0">
                <a:solidFill>
                  <a:srgbClr val="000000"/>
                </a:solidFill>
              </a:endParaRPr>
            </a:p>
            <a:p>
              <a:pPr algn="ctr"/>
              <a:r>
                <a:rPr lang="pt-BR" sz="1200" b="1" noProof="0" dirty="0">
                  <a:solidFill>
                    <a:srgbClr val="FFFFFF"/>
                  </a:solidFill>
                  <a:latin typeface="Arial"/>
                </a:rPr>
                <a:t>e motivação</a:t>
              </a:r>
            </a:p>
          </p:txBody>
        </p:sp>
      </p:grpSp>
      <p:pic>
        <p:nvPicPr>
          <p:cNvPr id="207" name="Picture 206" descr="problem_logi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2"/>
            <a:ext cx="5588813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Box 211"/>
          <p:cNvSpPr txBox="1"/>
          <p:nvPr/>
        </p:nvSpPr>
        <p:spPr>
          <a:xfrm>
            <a:off x="0" y="1055216"/>
            <a:ext cx="14630399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3000" b="1" noProof="0" dirty="0">
                <a:solidFill>
                  <a:srgbClr val="000000"/>
                </a:solidFill>
                <a:latin typeface="Arial"/>
              </a:rPr>
              <a:t>Motivação do Trabalho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3503979" y="3182107"/>
            <a:ext cx="7772400" cy="658368"/>
          </a:xfrm>
          <a:prstGeom prst="roundRect">
            <a:avLst/>
          </a:prstGeom>
          <a:solidFill>
            <a:srgbClr val="2570E2"/>
          </a:solidFill>
          <a:ln>
            <a:solidFill>
              <a:srgbClr val="257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14" name="TextBox 213"/>
          <p:cNvSpPr txBox="1"/>
          <p:nvPr/>
        </p:nvSpPr>
        <p:spPr>
          <a:xfrm>
            <a:off x="3686859" y="3319267"/>
            <a:ext cx="740664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pt-BR" sz="1600" b="1" noProof="0" dirty="0">
                <a:solidFill>
                  <a:srgbClr val="FFFFFF"/>
                </a:solidFill>
                <a:latin typeface="Arial"/>
              </a:rPr>
              <a:t>Tornar o aprendizado de algoritmos mais interativo e prático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3503979" y="4301337"/>
            <a:ext cx="7772400" cy="658368"/>
          </a:xfrm>
          <a:prstGeom prst="roundRect">
            <a:avLst/>
          </a:prstGeom>
          <a:solidFill>
            <a:srgbClr val="2570E2"/>
          </a:solidFill>
          <a:ln>
            <a:solidFill>
              <a:srgbClr val="257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18" name="TextBox 217"/>
          <p:cNvSpPr txBox="1"/>
          <p:nvPr/>
        </p:nvSpPr>
        <p:spPr>
          <a:xfrm>
            <a:off x="3686859" y="4438497"/>
            <a:ext cx="740664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pt-BR" sz="1600" b="1" noProof="0" dirty="0">
                <a:solidFill>
                  <a:srgbClr val="FFFFFF"/>
                </a:solidFill>
                <a:latin typeface="Arial"/>
              </a:rPr>
              <a:t>Personalizar desafios conforme o desempenho do estudante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503979" y="5325465"/>
            <a:ext cx="7772400" cy="658368"/>
          </a:xfrm>
          <a:prstGeom prst="roundRect">
            <a:avLst/>
          </a:prstGeom>
          <a:solidFill>
            <a:srgbClr val="2570E2"/>
          </a:solidFill>
          <a:ln>
            <a:solidFill>
              <a:srgbClr val="257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20" name="TextBox 219"/>
          <p:cNvSpPr txBox="1"/>
          <p:nvPr/>
        </p:nvSpPr>
        <p:spPr>
          <a:xfrm>
            <a:off x="3686859" y="5462625"/>
            <a:ext cx="740664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pt-BR" sz="1600" b="1" noProof="0" dirty="0">
                <a:solidFill>
                  <a:srgbClr val="FFFFFF"/>
                </a:solidFill>
                <a:latin typeface="Arial"/>
              </a:rPr>
              <a:t>Usar gamificação para aumentar motivação e persistência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4"/>
          <p:cNvSpPr/>
          <p:nvPr/>
        </p:nvSpPr>
        <p:spPr>
          <a:xfrm>
            <a:off x="1647750" y="1709142"/>
            <a:ext cx="11334900" cy="6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ctr" rtl="0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201B18"/>
              </a:buClr>
              <a:buSzPts val="3900"/>
              <a:buFont typeface="Arial"/>
              <a:buNone/>
            </a:pPr>
            <a:r>
              <a:rPr lang="pt-BR" sz="2600" b="1" noProof="0" dirty="0">
                <a:solidFill>
                  <a:srgbClr val="000000"/>
                </a:solidFill>
                <a:latin typeface="Arial"/>
              </a:rPr>
              <a:t>O que é IA Generativa aplicada ao ensino?</a:t>
            </a:r>
            <a:endParaRPr lang="pt-BR" sz="3900" b="1" i="0" u="none" strike="noStrike" cap="none" noProof="0" dirty="0">
              <a:solidFill>
                <a:schemeClr val="dk1"/>
              </a:solidFill>
            </a:endParaRPr>
          </a:p>
        </p:txBody>
      </p:sp>
      <p:sp>
        <p:nvSpPr>
          <p:cNvPr id="230" name="Google Shape;230;p44"/>
          <p:cNvSpPr/>
          <p:nvPr/>
        </p:nvSpPr>
        <p:spPr>
          <a:xfrm>
            <a:off x="793790" y="2726055"/>
            <a:ext cx="130428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ctr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400" noProof="0" dirty="0">
                <a:solidFill>
                  <a:srgbClr val="5A5A5A"/>
                </a:solidFill>
                <a:latin typeface="Arial"/>
              </a:rPr>
              <a:t>Tecnologia capaz de gerar conteúdos educacionais automaticamente a partir de instruções, dados e contexto.</a:t>
            </a:r>
            <a:endParaRPr lang="pt-BR" sz="2050" b="0" i="0" u="none" strike="noStrike" cap="none" noProof="0" dirty="0">
              <a:solidFill>
                <a:srgbClr val="504C49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/>
            <a:r>
              <a:rPr lang="pt-BR" sz="1400" noProof="0" dirty="0">
                <a:solidFill>
                  <a:srgbClr val="5A5A5A"/>
                </a:solidFill>
                <a:latin typeface="Arial"/>
              </a:rPr>
              <a:t>No projeto, ela apoia a criação de desafios de algoritmos personalizados.</a:t>
            </a:r>
          </a:p>
        </p:txBody>
      </p:sp>
      <p:sp>
        <p:nvSpPr>
          <p:cNvPr id="231" name="Google Shape;231;p44"/>
          <p:cNvSpPr/>
          <p:nvPr/>
        </p:nvSpPr>
        <p:spPr>
          <a:xfrm>
            <a:off x="1438632" y="4828461"/>
            <a:ext cx="35373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ctr" rtl="0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850"/>
              <a:buFont typeface="Arial"/>
              <a:buNone/>
            </a:pPr>
            <a:r>
              <a:rPr lang="pt-BR" sz="1500" b="1" noProof="0" dirty="0">
                <a:solidFill>
                  <a:srgbClr val="000000"/>
                </a:solidFill>
                <a:latin typeface="Arial"/>
              </a:rPr>
              <a:t>Geração de Desafios</a:t>
            </a:r>
            <a:endParaRPr lang="pt-BR" sz="1850" b="1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44"/>
          <p:cNvSpPr/>
          <p:nvPr/>
        </p:nvSpPr>
        <p:spPr>
          <a:xfrm>
            <a:off x="1438631" y="5281086"/>
            <a:ext cx="35373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ctr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850"/>
              <a:buFont typeface="Arial"/>
              <a:buNone/>
            </a:pPr>
            <a:r>
              <a:rPr lang="pt-BR" sz="1200" b="0" noProof="0" dirty="0">
                <a:solidFill>
                  <a:srgbClr val="000000"/>
                </a:solidFill>
                <a:latin typeface="Arial"/>
              </a:rPr>
              <a:t>Criação automática de exercícios de lógica conforme o nível do estudante.</a:t>
            </a:r>
            <a:endParaRPr lang="pt-BR" sz="1850" b="0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44"/>
          <p:cNvSpPr/>
          <p:nvPr/>
        </p:nvSpPr>
        <p:spPr>
          <a:xfrm>
            <a:off x="9721375" y="4828450"/>
            <a:ext cx="3741300" cy="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ctr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950"/>
              <a:buFont typeface="Arial"/>
              <a:buNone/>
            </a:pPr>
            <a:r>
              <a:rPr lang="pt-BR" sz="1500" b="1" noProof="0" dirty="0">
                <a:solidFill>
                  <a:srgbClr val="000000"/>
                </a:solidFill>
                <a:latin typeface="Arial"/>
              </a:rPr>
              <a:t>Feedback e Apoio</a:t>
            </a:r>
            <a:endParaRPr lang="pt-BR" sz="1950" b="1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44"/>
          <p:cNvSpPr/>
          <p:nvPr/>
        </p:nvSpPr>
        <p:spPr>
          <a:xfrm>
            <a:off x="9721379" y="5257681"/>
            <a:ext cx="35376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ctr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850"/>
              <a:buFont typeface="Arial"/>
              <a:buNone/>
            </a:pPr>
            <a:r>
              <a:rPr lang="pt-BR" sz="1200" b="0" noProof="0" dirty="0">
                <a:solidFill>
                  <a:srgbClr val="000000"/>
                </a:solidFill>
                <a:latin typeface="Arial"/>
              </a:rPr>
              <a:t>Possibilidade de sugerir ajustes, explicar erros e orientar novas tentativas.</a:t>
            </a:r>
            <a:endParaRPr lang="pt-BR" sz="1850" b="0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44"/>
          <p:cNvSpPr/>
          <p:nvPr/>
        </p:nvSpPr>
        <p:spPr>
          <a:xfrm>
            <a:off x="5350952" y="4828450"/>
            <a:ext cx="3995400" cy="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ctr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950"/>
              <a:buFont typeface="Arial"/>
              <a:buNone/>
            </a:pPr>
            <a:r>
              <a:rPr lang="pt-BR" sz="1500" b="1" noProof="0" dirty="0">
                <a:solidFill>
                  <a:srgbClr val="000000"/>
                </a:solidFill>
                <a:latin typeface="Arial"/>
              </a:rPr>
              <a:t>Personalização</a:t>
            </a:r>
            <a:endParaRPr lang="pt-BR" sz="1950" b="1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4"/>
          <p:cNvSpPr/>
          <p:nvPr/>
        </p:nvSpPr>
        <p:spPr>
          <a:xfrm>
            <a:off x="5350944" y="5343731"/>
            <a:ext cx="35376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ctr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850"/>
              <a:buFont typeface="Arial"/>
              <a:buNone/>
            </a:pPr>
            <a:r>
              <a:rPr lang="pt-BR" sz="1200" b="0" noProof="0" dirty="0">
                <a:solidFill>
                  <a:srgbClr val="000000"/>
                </a:solidFill>
                <a:latin typeface="Arial"/>
              </a:rPr>
              <a:t>Uso do desempenho do usuário para ajustar dificuldade e conteúdos.</a:t>
            </a:r>
            <a:endParaRPr lang="pt-BR" sz="1850" b="0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7" name="Google Shape;237;p44" title="Sem título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766200" y="7745592"/>
            <a:ext cx="1864200" cy="50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56">
            <a:extLst>
              <a:ext uri="{FF2B5EF4-FFF2-40B4-BE49-F238E27FC236}">
                <a16:creationId xmlns:a16="http://schemas.microsoft.com/office/drawing/2014/main" id="{3F0DFEA9-E0D8-E807-1AA9-0968A29C3313}"/>
              </a:ext>
            </a:extLst>
          </p:cNvPr>
          <p:cNvSpPr/>
          <p:nvPr/>
        </p:nvSpPr>
        <p:spPr>
          <a:xfrm>
            <a:off x="8879787" y="1311197"/>
            <a:ext cx="3538634" cy="2060638"/>
          </a:xfrm>
          <a:prstGeom prst="roundRect">
            <a:avLst/>
          </a:prstGeom>
          <a:solidFill>
            <a:srgbClr val="F8FAFF"/>
          </a:solidFill>
          <a:ln>
            <a:solidFill>
              <a:srgbClr val="D7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42" name="Google Shape;242;p45"/>
          <p:cNvSpPr/>
          <p:nvPr/>
        </p:nvSpPr>
        <p:spPr>
          <a:xfrm>
            <a:off x="4668600" y="391950"/>
            <a:ext cx="5293200" cy="7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B18"/>
              </a:buClr>
              <a:buSzPts val="3600"/>
              <a:buFont typeface="Arial"/>
              <a:buNone/>
            </a:pPr>
            <a:r>
              <a:rPr sz="2800" b="1">
                <a:solidFill>
                  <a:srgbClr val="000000"/>
                </a:solidFill>
                <a:latin typeface="Arial"/>
              </a:rPr>
              <a:t>Trabalhos relacionados</a:t>
            </a:r>
            <a:endParaRPr sz="36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5"/>
          <p:cNvSpPr/>
          <p:nvPr/>
        </p:nvSpPr>
        <p:spPr>
          <a:xfrm>
            <a:off x="1769211" y="1739212"/>
            <a:ext cx="3140400" cy="3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l" rtl="0">
              <a:lnSpc>
                <a:spcPct val="115384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2454"/>
              <a:buFont typeface="Arial"/>
              <a:buNone/>
            </a:pPr>
            <a:r>
              <a:rPr sz="1400" b="1">
                <a:solidFill>
                  <a:srgbClr val="000000"/>
                </a:solidFill>
                <a:latin typeface="Arial"/>
              </a:rPr>
              <a:t>Scratch</a:t>
            </a:r>
            <a:endParaRPr sz="2453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45"/>
          <p:cNvSpPr/>
          <p:nvPr/>
        </p:nvSpPr>
        <p:spPr>
          <a:xfrm>
            <a:off x="1769207" y="2237089"/>
            <a:ext cx="11961300" cy="57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l" rtl="0">
              <a:lnSpc>
                <a:spcPct val="124324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2328"/>
              <a:buFont typeface="Arial"/>
              <a:buNone/>
            </a:pPr>
            <a:r>
              <a:rPr sz="1200" b="0">
                <a:solidFill>
                  <a:srgbClr val="000000"/>
                </a:solidFill>
                <a:latin typeface="Arial"/>
              </a:rPr>
              <a:t>Programação visual por blocos para iniciantes, com foco na construção de algoritmos.</a:t>
            </a:r>
            <a:endParaRPr sz="2328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45"/>
          <p:cNvSpPr/>
          <p:nvPr/>
        </p:nvSpPr>
        <p:spPr>
          <a:xfrm>
            <a:off x="1769211" y="4907156"/>
            <a:ext cx="3140400" cy="3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l" rtl="0">
              <a:lnSpc>
                <a:spcPct val="115384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2454"/>
              <a:buFont typeface="Arial"/>
              <a:buNone/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Learn </a:t>
            </a:r>
            <a:r>
              <a:rPr sz="1400" b="1" dirty="0" err="1">
                <a:solidFill>
                  <a:srgbClr val="000000"/>
                </a:solidFill>
                <a:latin typeface="Arial"/>
              </a:rPr>
              <a:t>GDScript</a:t>
            </a:r>
            <a:endParaRPr sz="2453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5"/>
          <p:cNvSpPr/>
          <p:nvPr/>
        </p:nvSpPr>
        <p:spPr>
          <a:xfrm>
            <a:off x="1769211" y="5405027"/>
            <a:ext cx="9601800" cy="36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l" rtl="0">
              <a:lnSpc>
                <a:spcPct val="124324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2328"/>
              <a:buFont typeface="Arial"/>
              <a:buNone/>
            </a:pPr>
            <a:r>
              <a:rPr sz="1200" b="0" dirty="0">
                <a:solidFill>
                  <a:srgbClr val="000000"/>
                </a:solidFill>
                <a:latin typeface="Arial"/>
              </a:rPr>
              <a:t>Ferramenta </a:t>
            </a:r>
            <a:r>
              <a:rPr sz="1200" b="0" dirty="0" err="1">
                <a:solidFill>
                  <a:srgbClr val="000000"/>
                </a:solidFill>
                <a:latin typeface="Arial"/>
              </a:rPr>
              <a:t>interativa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com </a:t>
            </a:r>
            <a:r>
              <a:rPr sz="1200" b="0" dirty="0" err="1">
                <a:solidFill>
                  <a:srgbClr val="000000"/>
                </a:solidFill>
                <a:latin typeface="Arial"/>
              </a:rPr>
              <a:t>exercícios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000000"/>
                </a:solidFill>
                <a:latin typeface="Arial"/>
              </a:rPr>
              <a:t>progressivos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para </a:t>
            </a:r>
            <a:r>
              <a:rPr sz="1200" b="0" dirty="0" err="1">
                <a:solidFill>
                  <a:srgbClr val="000000"/>
                </a:solidFill>
                <a:latin typeface="Arial"/>
              </a:rPr>
              <a:t>ensino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de </a:t>
            </a:r>
            <a:r>
              <a:rPr sz="1200" b="0" dirty="0" err="1">
                <a:solidFill>
                  <a:srgbClr val="000000"/>
                </a:solidFill>
                <a:latin typeface="Arial"/>
              </a:rPr>
              <a:t>programação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textual.</a:t>
            </a:r>
            <a:endParaRPr sz="2328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9" name="Google Shape;249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4500" y="1596954"/>
            <a:ext cx="702903" cy="6442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4500" y="4764894"/>
            <a:ext cx="702903" cy="6442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Picture 255" descr="imag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8904" y="1427116"/>
            <a:ext cx="3200400" cy="1828800"/>
          </a:xfrm>
          <a:prstGeom prst="rect">
            <a:avLst/>
          </a:prstGeom>
        </p:spPr>
      </p:pic>
      <p:sp>
        <p:nvSpPr>
          <p:cNvPr id="257" name="Rounded Rectangle 256"/>
          <p:cNvSpPr/>
          <p:nvPr/>
        </p:nvSpPr>
        <p:spPr>
          <a:xfrm>
            <a:off x="8879787" y="4203702"/>
            <a:ext cx="3538634" cy="2060638"/>
          </a:xfrm>
          <a:prstGeom prst="roundRect">
            <a:avLst/>
          </a:prstGeom>
          <a:solidFill>
            <a:srgbClr val="F8FAFF"/>
          </a:solidFill>
          <a:ln>
            <a:solidFill>
              <a:srgbClr val="D7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pic>
        <p:nvPicPr>
          <p:cNvPr id="258" name="Picture 257" descr="image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8904" y="4319621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6"/>
          <p:cNvSpPr txBox="1">
            <a:spLocks noGrp="1"/>
          </p:cNvSpPr>
          <p:nvPr>
            <p:ph type="title"/>
          </p:nvPr>
        </p:nvSpPr>
        <p:spPr>
          <a:xfrm>
            <a:off x="1005900" y="495709"/>
            <a:ext cx="12618600" cy="15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/>
          <a:p>
            <a:pPr marL="0" lvl="0" indent="0" algn="ctr" rtl="0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201B18"/>
              </a:buClr>
              <a:buSzPts val="3900"/>
              <a:buFont typeface="Arial"/>
              <a:buNone/>
            </a:pPr>
            <a:r>
              <a:rPr lang="pt-BR" sz="2700" b="1" noProof="0" dirty="0">
                <a:solidFill>
                  <a:srgbClr val="000000"/>
                </a:solidFill>
                <a:latin typeface="Arial"/>
              </a:rPr>
              <a:t>Desafios e limitações da proposta</a:t>
            </a:r>
            <a:endParaRPr lang="pt-BR" sz="3900" b="1" noProof="0" dirty="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0" name="Google Shape;260;p46"/>
          <p:cNvGrpSpPr/>
          <p:nvPr/>
        </p:nvGrpSpPr>
        <p:grpSpPr>
          <a:xfrm>
            <a:off x="9660840" y="4498507"/>
            <a:ext cx="4426655" cy="2215200"/>
            <a:chOff x="6038025" y="2598928"/>
            <a:chExt cx="2766659" cy="1384500"/>
          </a:xfrm>
        </p:grpSpPr>
        <p:cxnSp>
          <p:nvCxnSpPr>
            <p:cNvPr id="261" name="Google Shape;261;p46"/>
            <p:cNvCxnSpPr/>
            <p:nvPr/>
          </p:nvCxnSpPr>
          <p:spPr>
            <a:xfrm>
              <a:off x="6038025" y="3312550"/>
              <a:ext cx="582000" cy="0"/>
            </a:xfrm>
            <a:prstGeom prst="straightConnector1">
              <a:avLst/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2" name="Google Shape;262;p46"/>
            <p:cNvSpPr txBox="1"/>
            <p:nvPr/>
          </p:nvSpPr>
          <p:spPr>
            <a:xfrm>
              <a:off x="6640484" y="2598928"/>
              <a:ext cx="2164200" cy="138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200"/>
                <a:buFont typeface="Arial"/>
                <a:buNone/>
              </a:pPr>
              <a:r>
                <a:rPr lang="pt-BR" sz="1200" noProof="0" dirty="0">
                  <a:solidFill>
                    <a:srgbClr val="000000"/>
                  </a:solidFill>
                  <a:latin typeface="Arial"/>
                </a:rPr>
                <a:t>Complexidade técnica</a:t>
              </a:r>
              <a:endParaRPr lang="pt-BR" sz="2200" b="1" i="0" u="none" strike="noStrike" cap="none" noProof="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algn="l"/>
              <a:endParaRPr lang="pt-BR" sz="2200" b="1" i="0" u="none" strike="noStrike" cap="none" noProof="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algn="l"/>
              <a:r>
                <a:rPr lang="pt-BR" sz="1200" noProof="0" dirty="0">
                  <a:solidFill>
                    <a:srgbClr val="000000"/>
                  </a:solidFill>
                  <a:latin typeface="Arial"/>
                </a:rPr>
                <a:t>Integração entre jogo, </a:t>
              </a:r>
              <a:r>
                <a:rPr lang="pt-BR" sz="1200" noProof="0" dirty="0" err="1">
                  <a:solidFill>
                    <a:srgbClr val="000000"/>
                  </a:solidFill>
                  <a:latin typeface="Arial"/>
                </a:rPr>
                <a:t>backend</a:t>
              </a:r>
              <a:r>
                <a:rPr lang="pt-BR" sz="1200" noProof="0" dirty="0">
                  <a:solidFill>
                    <a:srgbClr val="000000"/>
                  </a:solidFill>
                  <a:latin typeface="Arial"/>
                </a:rPr>
                <a:t>, banco de dados e API de IA.</a:t>
              </a:r>
            </a:p>
          </p:txBody>
        </p:sp>
        <p:sp>
          <p:nvSpPr>
            <p:cNvPr id="263" name="Google Shape;263;p46"/>
            <p:cNvSpPr/>
            <p:nvPr/>
          </p:nvSpPr>
          <p:spPr>
            <a:xfrm>
              <a:off x="6424027" y="3212150"/>
              <a:ext cx="198600" cy="198300"/>
            </a:xfrm>
            <a:prstGeom prst="ellipse">
              <a:avLst/>
            </a:prstGeom>
            <a:solidFill>
              <a:srgbClr val="307AF3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rmAutofit fontScale="25000" lnSpcReduction="20000"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 txBox="1"/>
            <p:nvPr/>
          </p:nvSpPr>
          <p:spPr>
            <a:xfrm>
              <a:off x="6399017" y="3156109"/>
              <a:ext cx="247500" cy="31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t" anchorCtr="0">
              <a:normAutofit fontScale="25000" lnSpcReduction="20000"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260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pt-BR" sz="6400" b="0" i="0" u="none" strike="noStrike" cap="none" noProof="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 lang="pt-BR" sz="1300" b="0" i="0" u="none" strike="noStrike" cap="none" noProof="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65" name="Google Shape;265;p46"/>
          <p:cNvGrpSpPr/>
          <p:nvPr/>
        </p:nvGrpSpPr>
        <p:grpSpPr>
          <a:xfrm>
            <a:off x="1018113" y="3262532"/>
            <a:ext cx="4791567" cy="2215200"/>
            <a:chOff x="636321" y="1844098"/>
            <a:chExt cx="2994729" cy="1384500"/>
          </a:xfrm>
        </p:grpSpPr>
        <p:sp>
          <p:nvSpPr>
            <p:cNvPr id="266" name="Google Shape;266;p46"/>
            <p:cNvSpPr txBox="1"/>
            <p:nvPr/>
          </p:nvSpPr>
          <p:spPr>
            <a:xfrm>
              <a:off x="636321" y="1844098"/>
              <a:ext cx="1867200" cy="138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200"/>
                <a:buFont typeface="Arial"/>
                <a:buNone/>
              </a:pPr>
              <a:r>
                <a:rPr lang="pt-BR" sz="1200" noProof="0" dirty="0">
                  <a:solidFill>
                    <a:srgbClr val="000000"/>
                  </a:solidFill>
                  <a:latin typeface="Arial"/>
                </a:rPr>
                <a:t>Heterogeneidade dos alunos</a:t>
              </a:r>
              <a:endParaRPr lang="pt-BR" sz="2200" b="1" i="0" u="none" strike="noStrike" cap="none" noProof="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algn="l"/>
              <a:endParaRPr lang="pt-BR" sz="2200" b="1" i="0" u="none" strike="noStrike" cap="none" noProof="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algn="l"/>
              <a:r>
                <a:rPr lang="pt-BR" sz="1200" noProof="0" dirty="0">
                  <a:solidFill>
                    <a:srgbClr val="000000"/>
                  </a:solidFill>
                  <a:latin typeface="Arial"/>
                </a:rPr>
                <a:t>Diferentes ritmos, conhecimentos prévios e dificuldades individuais.</a:t>
              </a:r>
            </a:p>
          </p:txBody>
        </p:sp>
        <p:cxnSp>
          <p:nvCxnSpPr>
            <p:cNvPr id="267" name="Google Shape;267;p46"/>
            <p:cNvCxnSpPr/>
            <p:nvPr/>
          </p:nvCxnSpPr>
          <p:spPr>
            <a:xfrm rot="10800000">
              <a:off x="2587350" y="2536350"/>
              <a:ext cx="1043700" cy="0"/>
            </a:xfrm>
            <a:prstGeom prst="straightConnector1">
              <a:avLst/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8" name="Google Shape;268;p46"/>
            <p:cNvSpPr/>
            <p:nvPr/>
          </p:nvSpPr>
          <p:spPr>
            <a:xfrm>
              <a:off x="2523501" y="2431050"/>
              <a:ext cx="198600" cy="198300"/>
            </a:xfrm>
            <a:prstGeom prst="ellipse">
              <a:avLst/>
            </a:prstGeom>
            <a:solidFill>
              <a:srgbClr val="0D5CDF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rmAutofit fontScale="25000" lnSpcReduction="20000"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46"/>
            <p:cNvSpPr txBox="1"/>
            <p:nvPr/>
          </p:nvSpPr>
          <p:spPr>
            <a:xfrm>
              <a:off x="2498491" y="2360043"/>
              <a:ext cx="247500" cy="31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260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pt-BR" sz="1600" b="0" i="0" u="none" strike="noStrike" cap="none" noProof="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2</a:t>
              </a:r>
            </a:p>
          </p:txBody>
        </p:sp>
      </p:grpSp>
      <p:grpSp>
        <p:nvGrpSpPr>
          <p:cNvPr id="270" name="Google Shape;270;p46"/>
          <p:cNvGrpSpPr/>
          <p:nvPr/>
        </p:nvGrpSpPr>
        <p:grpSpPr>
          <a:xfrm>
            <a:off x="7852960" y="1820639"/>
            <a:ext cx="5759338" cy="2215200"/>
            <a:chOff x="4908100" y="889950"/>
            <a:chExt cx="3599586" cy="1384500"/>
          </a:xfrm>
        </p:grpSpPr>
        <p:cxnSp>
          <p:nvCxnSpPr>
            <p:cNvPr id="271" name="Google Shape;271;p46"/>
            <p:cNvCxnSpPr/>
            <p:nvPr/>
          </p:nvCxnSpPr>
          <p:spPr>
            <a:xfrm>
              <a:off x="4908100" y="1593250"/>
              <a:ext cx="1715100" cy="0"/>
            </a:xfrm>
            <a:prstGeom prst="straightConnector1">
              <a:avLst/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2" name="Google Shape;272;p46"/>
            <p:cNvSpPr txBox="1"/>
            <p:nvPr/>
          </p:nvSpPr>
          <p:spPr>
            <a:xfrm>
              <a:off x="6640486" y="889950"/>
              <a:ext cx="1867200" cy="138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23076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250"/>
                <a:buFont typeface="Arial"/>
                <a:buNone/>
              </a:pPr>
              <a:r>
                <a:rPr lang="pt-BR" sz="1200" noProof="0" dirty="0">
                  <a:solidFill>
                    <a:srgbClr val="000000"/>
                  </a:solidFill>
                  <a:latin typeface="Arial"/>
                </a:rPr>
                <a:t>Conteúdo gerado por IA</a:t>
              </a:r>
              <a:endParaRPr lang="pt-BR" sz="2200" b="1" i="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algn="l"/>
              <a:endParaRPr lang="pt-BR" sz="2200" b="1" i="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algn="l"/>
              <a:r>
                <a:rPr lang="pt-BR" sz="1200" noProof="0" dirty="0">
                  <a:solidFill>
                    <a:srgbClr val="000000"/>
                  </a:solidFill>
                  <a:latin typeface="Arial"/>
                </a:rPr>
                <a:t>Necessidade de validar qualidade, precisão e adequação pedagógica.</a:t>
              </a:r>
            </a:p>
          </p:txBody>
        </p:sp>
        <p:sp>
          <p:nvSpPr>
            <p:cNvPr id="273" name="Google Shape;273;p46"/>
            <p:cNvSpPr/>
            <p:nvPr/>
          </p:nvSpPr>
          <p:spPr>
            <a:xfrm>
              <a:off x="6427830" y="1493307"/>
              <a:ext cx="198600" cy="198300"/>
            </a:xfrm>
            <a:prstGeom prst="ellipse">
              <a:avLst/>
            </a:prstGeom>
            <a:solidFill>
              <a:srgbClr val="0C57D3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rmAutofit fontScale="25000" lnSpcReduction="20000"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46"/>
            <p:cNvSpPr txBox="1"/>
            <p:nvPr/>
          </p:nvSpPr>
          <p:spPr>
            <a:xfrm>
              <a:off x="6402820" y="1427646"/>
              <a:ext cx="247500" cy="31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t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260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pt-BR" sz="1600" b="0" i="0" u="none" strike="noStrike" cap="none" noProof="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1</a:t>
              </a:r>
            </a:p>
          </p:txBody>
        </p:sp>
      </p:grpSp>
      <p:grpSp>
        <p:nvGrpSpPr>
          <p:cNvPr id="275" name="Google Shape;275;p46"/>
          <p:cNvGrpSpPr/>
          <p:nvPr/>
        </p:nvGrpSpPr>
        <p:grpSpPr>
          <a:xfrm>
            <a:off x="4503351" y="2102562"/>
            <a:ext cx="5623698" cy="5203202"/>
            <a:chOff x="2991269" y="1153325"/>
            <a:chExt cx="3514811" cy="3252002"/>
          </a:xfrm>
        </p:grpSpPr>
        <p:sp>
          <p:nvSpPr>
            <p:cNvPr id="276" name="Google Shape;276;p46"/>
            <p:cNvSpPr/>
            <p:nvPr/>
          </p:nvSpPr>
          <p:spPr>
            <a:xfrm>
              <a:off x="3477586" y="2585458"/>
              <a:ext cx="2541910" cy="950456"/>
            </a:xfrm>
            <a:custGeom>
              <a:avLst/>
              <a:gdLst/>
              <a:ahLst/>
              <a:cxnLst/>
              <a:rect l="l" t="t" r="r" b="b"/>
              <a:pathLst>
                <a:path w="126826" h="43529" extrusionOk="0">
                  <a:moveTo>
                    <a:pt x="0" y="20002"/>
                  </a:moveTo>
                  <a:lnTo>
                    <a:pt x="63389" y="43529"/>
                  </a:lnTo>
                  <a:lnTo>
                    <a:pt x="126826" y="19907"/>
                  </a:lnTo>
                  <a:lnTo>
                    <a:pt x="63580" y="0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wrap="square">
              <a:normAutofit/>
            </a:bodyPr>
            <a:lstStyle/>
            <a:p>
              <a:endParaRPr lang="pt-BR" noProof="0" dirty="0"/>
            </a:p>
          </p:txBody>
        </p:sp>
        <p:sp>
          <p:nvSpPr>
            <p:cNvPr id="277" name="Google Shape;277;p46"/>
            <p:cNvSpPr/>
            <p:nvPr/>
          </p:nvSpPr>
          <p:spPr>
            <a:xfrm>
              <a:off x="2991269" y="3020977"/>
              <a:ext cx="1758228" cy="1384350"/>
            </a:xfrm>
            <a:custGeom>
              <a:avLst/>
              <a:gdLst/>
              <a:ahLst/>
              <a:cxnLst/>
              <a:rect l="l" t="t" r="r" b="b"/>
              <a:pathLst>
                <a:path w="87725" h="63817" extrusionOk="0">
                  <a:moveTo>
                    <a:pt x="24288" y="0"/>
                  </a:moveTo>
                  <a:lnTo>
                    <a:pt x="0" y="29908"/>
                  </a:lnTo>
                  <a:lnTo>
                    <a:pt x="87725" y="63817"/>
                  </a:lnTo>
                  <a:lnTo>
                    <a:pt x="87725" y="42291"/>
                  </a:lnTo>
                  <a:lnTo>
                    <a:pt x="87725" y="23526"/>
                  </a:lnTo>
                  <a:close/>
                </a:path>
              </a:pathLst>
            </a:custGeom>
            <a:solidFill>
              <a:srgbClr val="0942A1"/>
            </a:solidFill>
            <a:ln>
              <a:noFill/>
            </a:ln>
          </p:spPr>
          <p:txBody>
            <a:bodyPr wrap="square">
              <a:normAutofit/>
            </a:bodyPr>
            <a:lstStyle/>
            <a:p>
              <a:endParaRPr lang="pt-BR" noProof="0" dirty="0"/>
            </a:p>
          </p:txBody>
        </p:sp>
        <p:sp>
          <p:nvSpPr>
            <p:cNvPr id="278" name="Google Shape;278;p46"/>
            <p:cNvSpPr/>
            <p:nvPr/>
          </p:nvSpPr>
          <p:spPr>
            <a:xfrm flipH="1">
              <a:off x="4747852" y="3020977"/>
              <a:ext cx="1758228" cy="1384350"/>
            </a:xfrm>
            <a:custGeom>
              <a:avLst/>
              <a:gdLst/>
              <a:ahLst/>
              <a:cxnLst/>
              <a:rect l="l" t="t" r="r" b="b"/>
              <a:pathLst>
                <a:path w="87725" h="63817" extrusionOk="0">
                  <a:moveTo>
                    <a:pt x="24288" y="0"/>
                  </a:moveTo>
                  <a:lnTo>
                    <a:pt x="0" y="29908"/>
                  </a:lnTo>
                  <a:lnTo>
                    <a:pt x="87725" y="63817"/>
                  </a:lnTo>
                  <a:lnTo>
                    <a:pt x="87725" y="42291"/>
                  </a:lnTo>
                  <a:lnTo>
                    <a:pt x="87725" y="23526"/>
                  </a:lnTo>
                  <a:close/>
                </a:path>
              </a:pathLst>
            </a:custGeom>
            <a:solidFill>
              <a:srgbClr val="307AF3"/>
            </a:solidFill>
            <a:ln>
              <a:noFill/>
            </a:ln>
          </p:spPr>
          <p:txBody>
            <a:bodyPr wrap="square">
              <a:normAutofit/>
            </a:bodyPr>
            <a:lstStyle/>
            <a:p>
              <a:endParaRPr lang="pt-BR" noProof="0" dirty="0"/>
            </a:p>
          </p:txBody>
        </p:sp>
        <p:sp>
          <p:nvSpPr>
            <p:cNvPr id="279" name="Google Shape;279;p46"/>
            <p:cNvSpPr/>
            <p:nvPr/>
          </p:nvSpPr>
          <p:spPr>
            <a:xfrm>
              <a:off x="3969199" y="2001324"/>
              <a:ext cx="1565850" cy="585863"/>
            </a:xfrm>
            <a:custGeom>
              <a:avLst/>
              <a:gdLst/>
              <a:ahLst/>
              <a:cxnLst/>
              <a:rect l="l" t="t" r="r" b="b"/>
              <a:pathLst>
                <a:path w="24053" h="8150" extrusionOk="0">
                  <a:moveTo>
                    <a:pt x="0" y="3827"/>
                  </a:moveTo>
                  <a:lnTo>
                    <a:pt x="11976" y="8150"/>
                  </a:lnTo>
                  <a:lnTo>
                    <a:pt x="24053" y="3827"/>
                  </a:lnTo>
                  <a:lnTo>
                    <a:pt x="12126" y="0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wrap="square">
              <a:normAutofit/>
            </a:bodyPr>
            <a:lstStyle/>
            <a:p>
              <a:endParaRPr lang="pt-BR" noProof="0" dirty="0"/>
            </a:p>
          </p:txBody>
        </p:sp>
        <p:sp>
          <p:nvSpPr>
            <p:cNvPr id="280" name="Google Shape;280;p46"/>
            <p:cNvSpPr/>
            <p:nvPr/>
          </p:nvSpPr>
          <p:spPr>
            <a:xfrm>
              <a:off x="3563255" y="2275837"/>
              <a:ext cx="1189300" cy="1015326"/>
            </a:xfrm>
            <a:custGeom>
              <a:avLst/>
              <a:gdLst/>
              <a:ahLst/>
              <a:cxnLst/>
              <a:rect l="l" t="t" r="r" b="b"/>
              <a:pathLst>
                <a:path w="18238" h="14114" extrusionOk="0">
                  <a:moveTo>
                    <a:pt x="6262" y="0"/>
                  </a:moveTo>
                  <a:lnTo>
                    <a:pt x="18238" y="4324"/>
                  </a:lnTo>
                  <a:lnTo>
                    <a:pt x="18238" y="14114"/>
                  </a:lnTo>
                  <a:lnTo>
                    <a:pt x="0" y="7554"/>
                  </a:lnTo>
                  <a:close/>
                </a:path>
              </a:pathLst>
            </a:custGeom>
            <a:solidFill>
              <a:srgbClr val="0942A1"/>
            </a:solidFill>
            <a:ln>
              <a:noFill/>
            </a:ln>
          </p:spPr>
          <p:txBody>
            <a:bodyPr wrap="square">
              <a:normAutofit/>
            </a:bodyPr>
            <a:lstStyle/>
            <a:p>
              <a:endParaRPr lang="pt-BR" noProof="0" dirty="0"/>
            </a:p>
          </p:txBody>
        </p:sp>
        <p:sp>
          <p:nvSpPr>
            <p:cNvPr id="281" name="Google Shape;281;p46"/>
            <p:cNvSpPr/>
            <p:nvPr/>
          </p:nvSpPr>
          <p:spPr>
            <a:xfrm flipH="1">
              <a:off x="4749365" y="2275837"/>
              <a:ext cx="1189300" cy="1015326"/>
            </a:xfrm>
            <a:custGeom>
              <a:avLst/>
              <a:gdLst/>
              <a:ahLst/>
              <a:cxnLst/>
              <a:rect l="l" t="t" r="r" b="b"/>
              <a:pathLst>
                <a:path w="18238" h="14114" extrusionOk="0">
                  <a:moveTo>
                    <a:pt x="6262" y="0"/>
                  </a:moveTo>
                  <a:lnTo>
                    <a:pt x="18238" y="4324"/>
                  </a:lnTo>
                  <a:lnTo>
                    <a:pt x="18238" y="14114"/>
                  </a:lnTo>
                  <a:lnTo>
                    <a:pt x="0" y="7554"/>
                  </a:lnTo>
                  <a:close/>
                </a:path>
              </a:pathLst>
            </a:custGeom>
            <a:solidFill>
              <a:srgbClr val="0D5CDF"/>
            </a:solidFill>
            <a:ln>
              <a:noFill/>
            </a:ln>
          </p:spPr>
          <p:txBody>
            <a:bodyPr wrap="square">
              <a:normAutofit/>
            </a:bodyPr>
            <a:lstStyle/>
            <a:p>
              <a:endParaRPr lang="pt-BR" noProof="0" dirty="0"/>
            </a:p>
          </p:txBody>
        </p:sp>
        <p:sp>
          <p:nvSpPr>
            <p:cNvPr id="282" name="Google Shape;282;p46"/>
            <p:cNvSpPr/>
            <p:nvPr/>
          </p:nvSpPr>
          <p:spPr>
            <a:xfrm>
              <a:off x="4059061" y="1153325"/>
              <a:ext cx="693508" cy="1201140"/>
            </a:xfrm>
            <a:custGeom>
              <a:avLst/>
              <a:gdLst/>
              <a:ahLst/>
              <a:cxnLst/>
              <a:rect l="l" t="t" r="r" b="b"/>
              <a:pathLst>
                <a:path w="10635" h="16697" extrusionOk="0">
                  <a:moveTo>
                    <a:pt x="10635" y="0"/>
                  </a:moveTo>
                  <a:lnTo>
                    <a:pt x="0" y="12722"/>
                  </a:lnTo>
                  <a:lnTo>
                    <a:pt x="10635" y="16697"/>
                  </a:lnTo>
                  <a:close/>
                </a:path>
              </a:pathLst>
            </a:custGeom>
            <a:solidFill>
              <a:srgbClr val="0942A1"/>
            </a:solidFill>
            <a:ln>
              <a:noFill/>
            </a:ln>
          </p:spPr>
          <p:txBody>
            <a:bodyPr wrap="square">
              <a:normAutofit/>
            </a:bodyPr>
            <a:lstStyle/>
            <a:p>
              <a:endParaRPr lang="pt-BR" noProof="0" dirty="0"/>
            </a:p>
          </p:txBody>
        </p:sp>
        <p:sp>
          <p:nvSpPr>
            <p:cNvPr id="283" name="Google Shape;283;p46"/>
            <p:cNvSpPr/>
            <p:nvPr/>
          </p:nvSpPr>
          <p:spPr>
            <a:xfrm flipH="1">
              <a:off x="4749350" y="1153325"/>
              <a:ext cx="693508" cy="1201140"/>
            </a:xfrm>
            <a:custGeom>
              <a:avLst/>
              <a:gdLst/>
              <a:ahLst/>
              <a:cxnLst/>
              <a:rect l="l" t="t" r="r" b="b"/>
              <a:pathLst>
                <a:path w="10635" h="16697" extrusionOk="0">
                  <a:moveTo>
                    <a:pt x="10635" y="0"/>
                  </a:moveTo>
                  <a:lnTo>
                    <a:pt x="0" y="12722"/>
                  </a:lnTo>
                  <a:lnTo>
                    <a:pt x="10635" y="16697"/>
                  </a:lnTo>
                  <a:close/>
                </a:path>
              </a:pathLst>
            </a:custGeom>
            <a:solidFill>
              <a:srgbClr val="0C57D3"/>
            </a:solidFill>
            <a:ln>
              <a:noFill/>
            </a:ln>
          </p:spPr>
          <p:txBody>
            <a:bodyPr wrap="square">
              <a:normAutofit/>
            </a:bodyPr>
            <a:lstStyle/>
            <a:p>
              <a:endParaRPr lang="pt-BR" noProof="0" dirty="0"/>
            </a:p>
          </p:txBody>
        </p:sp>
      </p:grpSp>
      <p:sp>
        <p:nvSpPr>
          <p:cNvPr id="284" name="TextBox 283"/>
          <p:cNvSpPr txBox="1"/>
          <p:nvPr/>
        </p:nvSpPr>
        <p:spPr>
          <a:xfrm>
            <a:off x="0" y="7648445"/>
            <a:ext cx="146304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200" noProof="0" dirty="0">
                <a:solidFill>
                  <a:srgbClr val="5A5A5A"/>
                </a:solidFill>
                <a:latin typeface="Arial"/>
              </a:rPr>
              <a:t>Também devem ser considerados: acesso a dispositivos/conectividade e equilíbrio entre desafio e habilidade do jogador.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Box 287"/>
          <p:cNvSpPr txBox="1"/>
          <p:nvPr/>
        </p:nvSpPr>
        <p:spPr>
          <a:xfrm>
            <a:off x="0" y="382271"/>
            <a:ext cx="1463040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3000" b="1" noProof="0" dirty="0">
                <a:solidFill>
                  <a:srgbClr val="000000"/>
                </a:solidFill>
                <a:latin typeface="Arial"/>
              </a:rPr>
              <a:t>Objetivo Geral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0" y="1920240"/>
            <a:ext cx="14630400" cy="868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800" b="0" noProof="0" dirty="0">
                <a:solidFill>
                  <a:srgbClr val="000000"/>
                </a:solidFill>
                <a:latin typeface="Arial"/>
              </a:rPr>
              <a:t>Desenvolver um jogo educacional web capaz de gerar automaticamente desafios de algoritmos, utilizando IA generativa e elementos de gamificação para auxiliar o ensino de lógica de programação.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2505453" y="4069080"/>
            <a:ext cx="2606040" cy="1234440"/>
          </a:xfrm>
          <a:prstGeom prst="rect">
            <a:avLst/>
          </a:prstGeom>
          <a:solidFill>
            <a:srgbClr val="EEF2F8"/>
          </a:solidFill>
          <a:ln>
            <a:solidFill>
              <a:srgbClr val="0E3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91" name="TextBox 290"/>
          <p:cNvSpPr txBox="1"/>
          <p:nvPr/>
        </p:nvSpPr>
        <p:spPr>
          <a:xfrm>
            <a:off x="2615181" y="4270248"/>
            <a:ext cx="2386584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600" b="1" noProof="0" dirty="0">
                <a:solidFill>
                  <a:srgbClr val="0E366D"/>
                </a:solidFill>
                <a:latin typeface="Arial"/>
              </a:rPr>
              <a:t>Desempenho do aluno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2615181" y="4727448"/>
            <a:ext cx="238658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100" b="0" noProof="0" dirty="0">
                <a:solidFill>
                  <a:srgbClr val="5A5A5A"/>
                </a:solidFill>
                <a:latin typeface="Arial"/>
              </a:rPr>
              <a:t>acertos • erros • tentativas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5888733" y="4069080"/>
            <a:ext cx="2606040" cy="1234440"/>
          </a:xfrm>
          <a:prstGeom prst="rect">
            <a:avLst/>
          </a:prstGeom>
          <a:solidFill>
            <a:srgbClr val="EEF2F8"/>
          </a:solidFill>
          <a:ln>
            <a:solidFill>
              <a:srgbClr val="0E3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94" name="TextBox 293"/>
          <p:cNvSpPr txBox="1"/>
          <p:nvPr/>
        </p:nvSpPr>
        <p:spPr>
          <a:xfrm>
            <a:off x="5998461" y="4270248"/>
            <a:ext cx="2386584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600" b="1" noProof="0" dirty="0">
                <a:solidFill>
                  <a:srgbClr val="0E366D"/>
                </a:solidFill>
                <a:latin typeface="Arial"/>
              </a:rPr>
              <a:t>IA Generativa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5998461" y="4727448"/>
            <a:ext cx="238658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100" b="0" noProof="0" dirty="0">
                <a:solidFill>
                  <a:srgbClr val="5A5A5A"/>
                </a:solidFill>
                <a:latin typeface="Arial"/>
              </a:rPr>
              <a:t>gera e ajusta desafios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9272012" y="4069080"/>
            <a:ext cx="2606040" cy="1234440"/>
          </a:xfrm>
          <a:prstGeom prst="rect">
            <a:avLst/>
          </a:prstGeom>
          <a:solidFill>
            <a:srgbClr val="EEF2F8"/>
          </a:solidFill>
          <a:ln>
            <a:solidFill>
              <a:srgbClr val="0E3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97" name="TextBox 296"/>
          <p:cNvSpPr txBox="1"/>
          <p:nvPr/>
        </p:nvSpPr>
        <p:spPr>
          <a:xfrm>
            <a:off x="9381740" y="4270248"/>
            <a:ext cx="2386584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600" b="1" noProof="0" dirty="0">
                <a:solidFill>
                  <a:srgbClr val="0E366D"/>
                </a:solidFill>
                <a:latin typeface="Arial"/>
              </a:rPr>
              <a:t>Desafio personalizado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9381740" y="4727448"/>
            <a:ext cx="238658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100" b="0" noProof="0" dirty="0">
                <a:solidFill>
                  <a:srgbClr val="5A5A5A"/>
                </a:solidFill>
                <a:latin typeface="Arial"/>
              </a:rPr>
              <a:t>conteúdo no nível adequado</a:t>
            </a:r>
          </a:p>
        </p:txBody>
      </p:sp>
      <p:sp>
        <p:nvSpPr>
          <p:cNvPr id="299" name="Right Arrow 298"/>
          <p:cNvSpPr/>
          <p:nvPr/>
        </p:nvSpPr>
        <p:spPr>
          <a:xfrm>
            <a:off x="5221220" y="4389120"/>
            <a:ext cx="502920" cy="502920"/>
          </a:xfrm>
          <a:prstGeom prst="rightArrow">
            <a:avLst/>
          </a:prstGeom>
          <a:solidFill>
            <a:srgbClr val="2570E2"/>
          </a:solidFill>
          <a:ln>
            <a:solidFill>
              <a:srgbClr val="257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00" name="Right Arrow 299"/>
          <p:cNvSpPr/>
          <p:nvPr/>
        </p:nvSpPr>
        <p:spPr>
          <a:xfrm>
            <a:off x="8604501" y="4389120"/>
            <a:ext cx="502920" cy="502920"/>
          </a:xfrm>
          <a:prstGeom prst="rightArrow">
            <a:avLst/>
          </a:prstGeom>
          <a:solidFill>
            <a:srgbClr val="2570E2"/>
          </a:solidFill>
          <a:ln>
            <a:solidFill>
              <a:srgbClr val="257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01" name="TextBox 300"/>
          <p:cNvSpPr txBox="1"/>
          <p:nvPr/>
        </p:nvSpPr>
        <p:spPr>
          <a:xfrm>
            <a:off x="3419853" y="5897880"/>
            <a:ext cx="77724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300" b="0" noProof="0" dirty="0">
                <a:solidFill>
                  <a:srgbClr val="5A5A5A"/>
                </a:solidFill>
                <a:latin typeface="Arial"/>
              </a:rPr>
              <a:t>A adaptação utiliza dados do jogador para orientar os próximos desafios e manter a progressão de aprendizagem.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Box 296"/>
          <p:cNvSpPr txBox="1"/>
          <p:nvPr/>
        </p:nvSpPr>
        <p:spPr>
          <a:xfrm>
            <a:off x="0" y="594360"/>
            <a:ext cx="1463040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3000" b="1" noProof="0" dirty="0">
                <a:solidFill>
                  <a:srgbClr val="000000"/>
                </a:solidFill>
                <a:latin typeface="Arial"/>
              </a:rPr>
              <a:t>Objetivos específicos</a:t>
            </a:r>
          </a:p>
        </p:txBody>
      </p:sp>
      <p:sp>
        <p:nvSpPr>
          <p:cNvPr id="298" name="Oval 297"/>
          <p:cNvSpPr/>
          <p:nvPr/>
        </p:nvSpPr>
        <p:spPr>
          <a:xfrm>
            <a:off x="2121403" y="292608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99" name="TextBox 298"/>
          <p:cNvSpPr txBox="1"/>
          <p:nvPr/>
        </p:nvSpPr>
        <p:spPr>
          <a:xfrm>
            <a:off x="2121403" y="3227832"/>
            <a:ext cx="914400" cy="2743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pt-BR" sz="1300" b="1" noProof="0" dirty="0">
                <a:solidFill>
                  <a:srgbClr val="0E366D"/>
                </a:solidFill>
                <a:latin typeface="Arial"/>
              </a:rPr>
              <a:t>01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3154674" y="3374136"/>
            <a:ext cx="1051560" cy="45720"/>
          </a:xfrm>
          <a:prstGeom prst="rect">
            <a:avLst/>
          </a:prstGeom>
          <a:solidFill>
            <a:srgbClr val="7D7D7D"/>
          </a:solidFill>
          <a:ln>
            <a:solidFill>
              <a:srgbClr val="7D7D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01" name="TextBox 300"/>
          <p:cNvSpPr txBox="1"/>
          <p:nvPr/>
        </p:nvSpPr>
        <p:spPr>
          <a:xfrm>
            <a:off x="1801363" y="4160520"/>
            <a:ext cx="155448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300" b="1" noProof="0" dirty="0">
                <a:solidFill>
                  <a:srgbClr val="000000"/>
                </a:solidFill>
                <a:latin typeface="Arial"/>
              </a:rPr>
              <a:t>Criar o jogo</a:t>
            </a:r>
          </a:p>
          <a:p>
            <a:pPr algn="ctr"/>
            <a:r>
              <a:rPr lang="pt-BR" sz="1300" b="1" noProof="0" dirty="0" err="1">
                <a:solidFill>
                  <a:srgbClr val="000000"/>
                </a:solidFill>
                <a:latin typeface="Arial"/>
              </a:rPr>
              <a:t>Reprogrammed</a:t>
            </a:r>
            <a:endParaRPr lang="pt-BR" sz="1300" b="1" noProof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301"/>
          <p:cNvSpPr txBox="1"/>
          <p:nvPr/>
        </p:nvSpPr>
        <p:spPr>
          <a:xfrm>
            <a:off x="1682491" y="4983480"/>
            <a:ext cx="17830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019" b="0" noProof="0" dirty="0">
                <a:solidFill>
                  <a:srgbClr val="5A5A5A"/>
                </a:solidFill>
                <a:latin typeface="Arial"/>
              </a:rPr>
              <a:t>Ambiente web com fases, narrativa e mecânicas gamificadas.</a:t>
            </a:r>
          </a:p>
        </p:txBody>
      </p:sp>
      <p:sp>
        <p:nvSpPr>
          <p:cNvPr id="303" name="Oval 302"/>
          <p:cNvSpPr/>
          <p:nvPr/>
        </p:nvSpPr>
        <p:spPr>
          <a:xfrm>
            <a:off x="4425691" y="292608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04" name="TextBox 303"/>
          <p:cNvSpPr txBox="1"/>
          <p:nvPr/>
        </p:nvSpPr>
        <p:spPr>
          <a:xfrm>
            <a:off x="4425691" y="3227832"/>
            <a:ext cx="914400" cy="2743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pt-BR" sz="1300" b="1" noProof="0" dirty="0">
                <a:solidFill>
                  <a:srgbClr val="0E366D"/>
                </a:solidFill>
                <a:latin typeface="Arial"/>
              </a:rPr>
              <a:t>02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5458962" y="3374136"/>
            <a:ext cx="1051560" cy="45720"/>
          </a:xfrm>
          <a:prstGeom prst="rect">
            <a:avLst/>
          </a:prstGeom>
          <a:solidFill>
            <a:srgbClr val="7D7D7D"/>
          </a:solidFill>
          <a:ln>
            <a:solidFill>
              <a:srgbClr val="7D7D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06" name="TextBox 305"/>
          <p:cNvSpPr txBox="1"/>
          <p:nvPr/>
        </p:nvSpPr>
        <p:spPr>
          <a:xfrm>
            <a:off x="4105651" y="4160520"/>
            <a:ext cx="1554480" cy="59436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lang="pt-BR" sz="1300" b="1" noProof="0" dirty="0">
                <a:solidFill>
                  <a:srgbClr val="000000"/>
                </a:solidFill>
                <a:latin typeface="Arial"/>
              </a:rPr>
              <a:t>Implementar desafios</a:t>
            </a:r>
          </a:p>
          <a:p>
            <a:pPr algn="ctr"/>
            <a:r>
              <a:rPr lang="pt-BR" sz="1300" b="1" noProof="0" dirty="0">
                <a:solidFill>
                  <a:srgbClr val="000000"/>
                </a:solidFill>
                <a:latin typeface="Arial"/>
              </a:rPr>
              <a:t>progressivos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3986779" y="4983480"/>
            <a:ext cx="17830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019" b="0" noProof="0" dirty="0">
                <a:solidFill>
                  <a:srgbClr val="5A5A5A"/>
                </a:solidFill>
                <a:latin typeface="Arial"/>
              </a:rPr>
              <a:t>Sequência lógica, condicionais, loops, variáveis e funções.</a:t>
            </a:r>
          </a:p>
        </p:txBody>
      </p:sp>
      <p:sp>
        <p:nvSpPr>
          <p:cNvPr id="308" name="Oval 307"/>
          <p:cNvSpPr/>
          <p:nvPr/>
        </p:nvSpPr>
        <p:spPr>
          <a:xfrm>
            <a:off x="6729979" y="292608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09" name="TextBox 308"/>
          <p:cNvSpPr txBox="1"/>
          <p:nvPr/>
        </p:nvSpPr>
        <p:spPr>
          <a:xfrm>
            <a:off x="6729979" y="3227832"/>
            <a:ext cx="914400" cy="2743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pt-BR" sz="1300" b="1" noProof="0" dirty="0">
                <a:solidFill>
                  <a:srgbClr val="0E366D"/>
                </a:solidFill>
                <a:latin typeface="Arial"/>
              </a:rPr>
              <a:t>03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7763250" y="3374136"/>
            <a:ext cx="1051560" cy="45720"/>
          </a:xfrm>
          <a:prstGeom prst="rect">
            <a:avLst/>
          </a:prstGeom>
          <a:solidFill>
            <a:srgbClr val="7D7D7D"/>
          </a:solidFill>
          <a:ln>
            <a:solidFill>
              <a:srgbClr val="7D7D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11" name="TextBox 310"/>
          <p:cNvSpPr txBox="1"/>
          <p:nvPr/>
        </p:nvSpPr>
        <p:spPr>
          <a:xfrm>
            <a:off x="6409939" y="4160520"/>
            <a:ext cx="155448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300" b="1" noProof="0" dirty="0">
                <a:solidFill>
                  <a:srgbClr val="000000"/>
                </a:solidFill>
                <a:latin typeface="Arial"/>
              </a:rPr>
              <a:t>Integrar IA</a:t>
            </a:r>
          </a:p>
          <a:p>
            <a:pPr algn="ctr"/>
            <a:r>
              <a:rPr lang="pt-BR" sz="1300" b="1" noProof="0" dirty="0">
                <a:solidFill>
                  <a:srgbClr val="000000"/>
                </a:solidFill>
                <a:latin typeface="Arial"/>
              </a:rPr>
              <a:t>generativa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6291067" y="4983480"/>
            <a:ext cx="17830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019" b="0" noProof="0" dirty="0">
                <a:solidFill>
                  <a:srgbClr val="5A5A5A"/>
                </a:solidFill>
                <a:latin typeface="Arial"/>
              </a:rPr>
              <a:t>Gerar desafios automaticamente conforme o desempenho.</a:t>
            </a:r>
          </a:p>
        </p:txBody>
      </p:sp>
      <p:sp>
        <p:nvSpPr>
          <p:cNvPr id="313" name="Oval 312"/>
          <p:cNvSpPr/>
          <p:nvPr/>
        </p:nvSpPr>
        <p:spPr>
          <a:xfrm>
            <a:off x="9034267" y="292608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14" name="TextBox 313"/>
          <p:cNvSpPr txBox="1"/>
          <p:nvPr/>
        </p:nvSpPr>
        <p:spPr>
          <a:xfrm>
            <a:off x="9034267" y="3227832"/>
            <a:ext cx="914400" cy="2743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pt-BR" sz="1300" b="1" noProof="0" dirty="0">
                <a:solidFill>
                  <a:srgbClr val="0E366D"/>
                </a:solidFill>
                <a:latin typeface="Arial"/>
              </a:rPr>
              <a:t>04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0067538" y="3374136"/>
            <a:ext cx="1051560" cy="45720"/>
          </a:xfrm>
          <a:prstGeom prst="rect">
            <a:avLst/>
          </a:prstGeom>
          <a:solidFill>
            <a:srgbClr val="7D7D7D"/>
          </a:solidFill>
          <a:ln>
            <a:solidFill>
              <a:srgbClr val="7D7D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16" name="TextBox 315"/>
          <p:cNvSpPr txBox="1"/>
          <p:nvPr/>
        </p:nvSpPr>
        <p:spPr>
          <a:xfrm>
            <a:off x="8714227" y="4160520"/>
            <a:ext cx="1554480" cy="59436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lang="pt-BR" sz="1300" b="1" noProof="0" dirty="0">
                <a:solidFill>
                  <a:srgbClr val="000000"/>
                </a:solidFill>
                <a:latin typeface="Arial"/>
              </a:rPr>
              <a:t>Registrar progresso</a:t>
            </a:r>
          </a:p>
          <a:p>
            <a:pPr algn="ctr"/>
            <a:r>
              <a:rPr lang="pt-BR" sz="1300" b="1" noProof="0" dirty="0">
                <a:solidFill>
                  <a:srgbClr val="000000"/>
                </a:solidFill>
                <a:latin typeface="Arial"/>
              </a:rPr>
              <a:t>e desempenho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8595355" y="4983480"/>
            <a:ext cx="17830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019" b="0" noProof="0" dirty="0">
                <a:solidFill>
                  <a:srgbClr val="5A5A5A"/>
                </a:solidFill>
                <a:latin typeface="Arial"/>
              </a:rPr>
              <a:t>Armazenar acertos, erros, tentativas e evolução do usuário.</a:t>
            </a:r>
          </a:p>
        </p:txBody>
      </p:sp>
      <p:sp>
        <p:nvSpPr>
          <p:cNvPr id="318" name="Oval 317"/>
          <p:cNvSpPr/>
          <p:nvPr/>
        </p:nvSpPr>
        <p:spPr>
          <a:xfrm>
            <a:off x="11338555" y="292608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19" name="TextBox 318"/>
          <p:cNvSpPr txBox="1"/>
          <p:nvPr/>
        </p:nvSpPr>
        <p:spPr>
          <a:xfrm>
            <a:off x="11338555" y="3227832"/>
            <a:ext cx="914400" cy="2743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pt-BR" sz="1300" b="1" noProof="0" dirty="0">
                <a:solidFill>
                  <a:srgbClr val="0E366D"/>
                </a:solidFill>
                <a:latin typeface="Arial"/>
              </a:rPr>
              <a:t>05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11018515" y="4160520"/>
            <a:ext cx="155448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300" b="1" noProof="0" dirty="0">
                <a:solidFill>
                  <a:srgbClr val="000000"/>
                </a:solidFill>
                <a:latin typeface="Arial"/>
              </a:rPr>
              <a:t>Validar o</a:t>
            </a:r>
          </a:p>
          <a:p>
            <a:pPr algn="ctr"/>
            <a:r>
              <a:rPr lang="pt-BR" sz="1300" b="1" noProof="0" dirty="0">
                <a:solidFill>
                  <a:srgbClr val="000000"/>
                </a:solidFill>
                <a:latin typeface="Arial"/>
              </a:rPr>
              <a:t>sistema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10899643" y="4983480"/>
            <a:ext cx="17830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019" b="0" noProof="0" dirty="0">
                <a:solidFill>
                  <a:srgbClr val="5A5A5A"/>
                </a:solidFill>
                <a:latin typeface="Arial"/>
              </a:rPr>
              <a:t>Realizar testes funcionais e avaliar a usabilidade das mecânicas.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TextBox 330"/>
          <p:cNvSpPr txBox="1"/>
          <p:nvPr/>
        </p:nvSpPr>
        <p:spPr>
          <a:xfrm>
            <a:off x="0" y="411480"/>
            <a:ext cx="1463040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2800" b="1" noProof="0" dirty="0">
                <a:solidFill>
                  <a:srgbClr val="000000"/>
                </a:solidFill>
                <a:latin typeface="Arial"/>
              </a:rPr>
              <a:t>Arquitetura do Sistema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0" y="985723"/>
            <a:ext cx="14630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300" noProof="0" dirty="0">
                <a:solidFill>
                  <a:srgbClr val="5A5A5A"/>
                </a:solidFill>
                <a:latin typeface="Arial"/>
              </a:rPr>
              <a:t>Visão geral da aplicação</a:t>
            </a:r>
          </a:p>
        </p:txBody>
      </p:sp>
      <p:sp>
        <p:nvSpPr>
          <p:cNvPr id="333" name="Rounded Rectangle 332"/>
          <p:cNvSpPr/>
          <p:nvPr/>
        </p:nvSpPr>
        <p:spPr>
          <a:xfrm>
            <a:off x="822960" y="1417320"/>
            <a:ext cx="12847320" cy="5437022"/>
          </a:xfrm>
          <a:prstGeom prst="roundRect">
            <a:avLst/>
          </a:prstGeom>
          <a:solidFill>
            <a:srgbClr val="F8FAFF"/>
          </a:solidFill>
          <a:ln>
            <a:solidFill>
              <a:srgbClr val="D7E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pt-BR" noProof="0" dirty="0"/>
          </a:p>
        </p:txBody>
      </p:sp>
      <p:pic>
        <p:nvPicPr>
          <p:cNvPr id="334" name="Picture 333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945" y="1726382"/>
            <a:ext cx="12068252" cy="4879243"/>
          </a:xfrm>
          <a:prstGeom prst="rect">
            <a:avLst/>
          </a:prstGeom>
        </p:spPr>
      </p:pic>
      <p:sp>
        <p:nvSpPr>
          <p:cNvPr id="335" name="Rounded Rectangle 334"/>
          <p:cNvSpPr/>
          <p:nvPr/>
        </p:nvSpPr>
        <p:spPr>
          <a:xfrm>
            <a:off x="2117749" y="7181694"/>
            <a:ext cx="2514600" cy="685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7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pt-BR" noProof="0" dirty="0"/>
          </a:p>
        </p:txBody>
      </p:sp>
      <p:sp>
        <p:nvSpPr>
          <p:cNvPr id="336" name="TextBox 335"/>
          <p:cNvSpPr txBox="1"/>
          <p:nvPr/>
        </p:nvSpPr>
        <p:spPr>
          <a:xfrm>
            <a:off x="2282341" y="7291422"/>
            <a:ext cx="2185416" cy="4663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pt-BR" sz="1100" b="1" noProof="0" dirty="0" err="1">
                <a:solidFill>
                  <a:srgbClr val="0E366D"/>
                </a:solidFill>
                <a:latin typeface="Arial"/>
              </a:rPr>
              <a:t>Frontend</a:t>
            </a:r>
            <a:endParaRPr lang="pt-BR" sz="1100" b="1" noProof="0" dirty="0">
              <a:solidFill>
                <a:srgbClr val="0E366D"/>
              </a:solidFill>
              <a:latin typeface="Arial"/>
            </a:endParaRPr>
          </a:p>
          <a:p>
            <a:pPr algn="l"/>
            <a:r>
              <a:rPr lang="pt-BR" sz="850" noProof="0" dirty="0">
                <a:solidFill>
                  <a:srgbClr val="000000"/>
                </a:solidFill>
                <a:latin typeface="Arial"/>
              </a:rPr>
              <a:t>• HTML, CSS, JS e Phaser.js</a:t>
            </a:r>
          </a:p>
        </p:txBody>
      </p:sp>
      <p:sp>
        <p:nvSpPr>
          <p:cNvPr id="337" name="Rounded Rectangle 336"/>
          <p:cNvSpPr/>
          <p:nvPr/>
        </p:nvSpPr>
        <p:spPr>
          <a:xfrm>
            <a:off x="4769509" y="7181694"/>
            <a:ext cx="2514600" cy="685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7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pt-BR" noProof="0" dirty="0"/>
          </a:p>
        </p:txBody>
      </p:sp>
      <p:sp>
        <p:nvSpPr>
          <p:cNvPr id="338" name="TextBox 337"/>
          <p:cNvSpPr txBox="1"/>
          <p:nvPr/>
        </p:nvSpPr>
        <p:spPr>
          <a:xfrm>
            <a:off x="4934101" y="7291422"/>
            <a:ext cx="2185416" cy="4663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pt-BR" sz="1100" b="1" noProof="0" dirty="0" err="1">
                <a:solidFill>
                  <a:srgbClr val="0E366D"/>
                </a:solidFill>
                <a:latin typeface="Arial"/>
              </a:rPr>
              <a:t>Backend</a:t>
            </a:r>
            <a:endParaRPr lang="pt-BR" sz="1100" b="1" noProof="0" dirty="0">
              <a:solidFill>
                <a:srgbClr val="0E366D"/>
              </a:solidFill>
              <a:latin typeface="Arial"/>
            </a:endParaRPr>
          </a:p>
          <a:p>
            <a:pPr algn="l"/>
            <a:r>
              <a:rPr lang="pt-BR" sz="850" noProof="0" dirty="0">
                <a:solidFill>
                  <a:srgbClr val="000000"/>
                </a:solidFill>
                <a:latin typeface="Arial"/>
              </a:rPr>
              <a:t>• Node.js e Express.js</a:t>
            </a:r>
          </a:p>
        </p:txBody>
      </p:sp>
      <p:sp>
        <p:nvSpPr>
          <p:cNvPr id="339" name="Rounded Rectangle 338"/>
          <p:cNvSpPr/>
          <p:nvPr/>
        </p:nvSpPr>
        <p:spPr>
          <a:xfrm>
            <a:off x="7421269" y="7181694"/>
            <a:ext cx="2514600" cy="685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7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pt-BR" noProof="0" dirty="0"/>
          </a:p>
        </p:txBody>
      </p:sp>
      <p:sp>
        <p:nvSpPr>
          <p:cNvPr id="340" name="TextBox 339"/>
          <p:cNvSpPr txBox="1"/>
          <p:nvPr/>
        </p:nvSpPr>
        <p:spPr>
          <a:xfrm>
            <a:off x="7585861" y="7291422"/>
            <a:ext cx="2185416" cy="4663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pt-BR" sz="1100" b="1" noProof="0" dirty="0">
                <a:solidFill>
                  <a:srgbClr val="0E366D"/>
                </a:solidFill>
                <a:latin typeface="Arial"/>
              </a:rPr>
              <a:t>Banco de dados</a:t>
            </a:r>
          </a:p>
          <a:p>
            <a:pPr algn="l"/>
            <a:r>
              <a:rPr lang="pt-BR" sz="850" noProof="0" dirty="0">
                <a:solidFill>
                  <a:srgbClr val="000000"/>
                </a:solidFill>
                <a:latin typeface="Arial"/>
              </a:rPr>
              <a:t>• PostgreSQL</a:t>
            </a:r>
          </a:p>
        </p:txBody>
      </p:sp>
      <p:sp>
        <p:nvSpPr>
          <p:cNvPr id="341" name="Rounded Rectangle 340"/>
          <p:cNvSpPr/>
          <p:nvPr/>
        </p:nvSpPr>
        <p:spPr>
          <a:xfrm>
            <a:off x="10073029" y="7181694"/>
            <a:ext cx="2514600" cy="685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57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pt-BR" noProof="0" dirty="0"/>
          </a:p>
        </p:txBody>
      </p:sp>
      <p:sp>
        <p:nvSpPr>
          <p:cNvPr id="342" name="TextBox 341"/>
          <p:cNvSpPr txBox="1"/>
          <p:nvPr/>
        </p:nvSpPr>
        <p:spPr>
          <a:xfrm>
            <a:off x="10237621" y="7291422"/>
            <a:ext cx="2185416" cy="4663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pt-BR" sz="1100" b="1" noProof="0" dirty="0">
                <a:solidFill>
                  <a:srgbClr val="0E366D"/>
                </a:solidFill>
                <a:latin typeface="Arial"/>
              </a:rPr>
              <a:t>IA + adaptação</a:t>
            </a:r>
          </a:p>
          <a:p>
            <a:pPr algn="l"/>
            <a:r>
              <a:rPr lang="pt-BR" sz="850" noProof="0" dirty="0">
                <a:solidFill>
                  <a:srgbClr val="000000"/>
                </a:solidFill>
                <a:latin typeface="Arial"/>
              </a:rPr>
              <a:t>• API de IA e métricas do jogador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0"/>
          <p:cNvSpPr/>
          <p:nvPr/>
        </p:nvSpPr>
        <p:spPr>
          <a:xfrm>
            <a:off x="793801" y="385675"/>
            <a:ext cx="13212600" cy="6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201B18"/>
              </a:buClr>
              <a:buSzPts val="3900"/>
              <a:buFont typeface="Arial"/>
              <a:buNone/>
            </a:pPr>
            <a:r>
              <a:rPr lang="pt-BR" sz="3900" b="1" i="0" u="none" strike="noStrike" cap="none" noProof="0" dirty="0">
                <a:solidFill>
                  <a:srgbClr val="201B18"/>
                </a:solidFill>
              </a:rPr>
              <a:t>Protótipo de Hardware - Componentes</a:t>
            </a:r>
            <a:endParaRPr lang="pt-BR" sz="3900" b="1" i="0" u="none" strike="noStrike" cap="none" noProof="0" dirty="0">
              <a:solidFill>
                <a:schemeClr val="dk1"/>
              </a:solidFill>
            </a:endParaRPr>
          </a:p>
        </p:txBody>
      </p:sp>
      <p:sp>
        <p:nvSpPr>
          <p:cNvPr id="337" name="Google Shape;337;p50"/>
          <p:cNvSpPr/>
          <p:nvPr/>
        </p:nvSpPr>
        <p:spPr>
          <a:xfrm>
            <a:off x="793790" y="1141061"/>
            <a:ext cx="13042800" cy="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850"/>
              <a:buFont typeface="Arial"/>
              <a:buNone/>
            </a:pPr>
            <a:r>
              <a:rPr lang="pt-BR" sz="1850" b="0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O protótipo físico foi estruturado com componentes de baixo custo e alta eficiência para monitoramento em tempo real.</a:t>
            </a:r>
            <a:endParaRPr lang="pt-BR" sz="1850" b="0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50"/>
          <p:cNvSpPr/>
          <p:nvPr/>
        </p:nvSpPr>
        <p:spPr>
          <a:xfrm>
            <a:off x="977991" y="3545875"/>
            <a:ext cx="4250700" cy="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950"/>
              <a:buFont typeface="Arial"/>
              <a:buNone/>
            </a:pPr>
            <a:r>
              <a:rPr lang="pt-BR" sz="1600" b="1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Microcontrolador ESP32 </a:t>
            </a:r>
            <a:r>
              <a:rPr lang="pt-BR" sz="1600" b="1" i="0" u="none" strike="noStrike" cap="none" noProof="0" dirty="0" err="1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NodeMCU</a:t>
            </a:r>
            <a:endParaRPr lang="pt-BR" sz="1600" b="1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50"/>
          <p:cNvSpPr/>
          <p:nvPr/>
        </p:nvSpPr>
        <p:spPr>
          <a:xfrm>
            <a:off x="977991" y="3975095"/>
            <a:ext cx="56532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850"/>
              <a:buFont typeface="Arial"/>
              <a:buNone/>
            </a:pPr>
            <a:r>
              <a:rPr lang="pt-BR" sz="1600" b="0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Responsável por processar as leituras do sensor, controlar LEDs e enviar os dados para o módulo </a:t>
            </a:r>
            <a:r>
              <a:rPr lang="pt-BR" sz="1600" b="0" i="0" u="none" strike="noStrike" cap="none" noProof="0" dirty="0" err="1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LoRa</a:t>
            </a:r>
            <a:r>
              <a:rPr lang="pt-BR" sz="1600" b="0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lang="pt-BR" sz="1600" b="0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50"/>
          <p:cNvSpPr/>
          <p:nvPr/>
        </p:nvSpPr>
        <p:spPr>
          <a:xfrm>
            <a:off x="8068271" y="3545875"/>
            <a:ext cx="3976200" cy="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950"/>
              <a:buFont typeface="Arial"/>
              <a:buNone/>
            </a:pPr>
            <a:r>
              <a:rPr lang="pt-BR" sz="1600" b="1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Sensor Ultrassônico JSN-SR04M</a:t>
            </a:r>
            <a:endParaRPr lang="pt-BR" sz="1600" b="1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50"/>
          <p:cNvSpPr/>
          <p:nvPr/>
        </p:nvSpPr>
        <p:spPr>
          <a:xfrm>
            <a:off x="8068271" y="3975095"/>
            <a:ext cx="56532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850"/>
              <a:buFont typeface="Arial"/>
              <a:buNone/>
            </a:pPr>
            <a:r>
              <a:rPr lang="pt-BR" sz="1600" b="0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Sensor à prova d’água utilizado para medir a distância entre o sensor e a superfície da água com alta precisão.</a:t>
            </a:r>
            <a:endParaRPr lang="pt-BR" sz="1600" b="0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50"/>
          <p:cNvSpPr/>
          <p:nvPr/>
        </p:nvSpPr>
        <p:spPr>
          <a:xfrm>
            <a:off x="908929" y="6345764"/>
            <a:ext cx="2481000" cy="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950"/>
              <a:buFont typeface="Arial"/>
              <a:buNone/>
            </a:pPr>
            <a:r>
              <a:rPr lang="pt-BR" sz="1600" b="1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LEDs Indicadores</a:t>
            </a:r>
            <a:endParaRPr lang="pt-BR" sz="1600" b="1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50"/>
          <p:cNvSpPr/>
          <p:nvPr/>
        </p:nvSpPr>
        <p:spPr>
          <a:xfrm>
            <a:off x="908929" y="6774985"/>
            <a:ext cx="5653200" cy="12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850"/>
              <a:buFont typeface="Arial"/>
              <a:buNone/>
            </a:pPr>
            <a:r>
              <a:rPr lang="pt-BR" sz="1600" b="0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Representam visualmente os estados de normal, atenção e risco conforme o nível medido no reservatório.</a:t>
            </a:r>
            <a:endParaRPr lang="pt-BR" sz="1600" b="0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50"/>
          <p:cNvSpPr/>
          <p:nvPr/>
        </p:nvSpPr>
        <p:spPr>
          <a:xfrm>
            <a:off x="8068259" y="6345752"/>
            <a:ext cx="2795700" cy="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950"/>
              <a:buFont typeface="Arial"/>
              <a:buNone/>
            </a:pPr>
            <a:r>
              <a:rPr lang="pt-BR" sz="1600" b="1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Módulo </a:t>
            </a:r>
            <a:r>
              <a:rPr lang="pt-BR" sz="1600" b="1" i="0" u="none" strike="noStrike" cap="none" noProof="0" dirty="0" err="1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LoRa</a:t>
            </a:r>
            <a:r>
              <a:rPr lang="pt-BR" sz="1600" b="1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 RFM95W</a:t>
            </a:r>
            <a:endParaRPr lang="pt-BR" sz="1600" b="1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50"/>
          <p:cNvSpPr/>
          <p:nvPr/>
        </p:nvSpPr>
        <p:spPr>
          <a:xfrm>
            <a:off x="8068259" y="6774973"/>
            <a:ext cx="56532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850"/>
              <a:buFont typeface="Arial"/>
              <a:buNone/>
            </a:pPr>
            <a:r>
              <a:rPr lang="pt-BR" sz="1600" b="0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Envia os dados coletados pelo ESP32 para a estação base via </a:t>
            </a:r>
            <a:r>
              <a:rPr lang="pt-BR" sz="1600" b="0" i="0" u="none" strike="noStrike" cap="none" noProof="0" dirty="0" err="1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LoRaWAN</a:t>
            </a:r>
            <a:r>
              <a:rPr lang="pt-BR" sz="1600" b="0" i="0" u="none" strike="noStrike" cap="none" noProof="0" dirty="0">
                <a:solidFill>
                  <a:srgbClr val="504C49"/>
                </a:solidFill>
                <a:latin typeface="Arial"/>
                <a:ea typeface="Arial"/>
                <a:cs typeface="Arial"/>
                <a:sym typeface="Arial"/>
              </a:rPr>
              <a:t>, com baixo consumo e grande alcance.</a:t>
            </a:r>
            <a:endParaRPr lang="pt-BR" sz="1600" b="0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6" name="Google Shape;346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77905" y="2005192"/>
            <a:ext cx="1543283" cy="154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7" name="Google Shape;347;p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49" y="4731086"/>
            <a:ext cx="1802675" cy="154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170950" y="1904514"/>
            <a:ext cx="1864800" cy="1540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5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70949" y="4675489"/>
            <a:ext cx="1670275" cy="167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12618600" cy="15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 sz="3000" b="1" noProof="0" dirty="0">
                <a:solidFill>
                  <a:srgbClr val="000000"/>
                </a:solidFill>
                <a:latin typeface="Arial"/>
              </a:rPr>
              <a:t>Comunicação e formato dos dados</a:t>
            </a:r>
            <a:endParaRPr lang="pt-BR" b="1" noProof="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51"/>
          <p:cNvSpPr/>
          <p:nvPr/>
        </p:nvSpPr>
        <p:spPr>
          <a:xfrm>
            <a:off x="1942088" y="3056173"/>
            <a:ext cx="4290900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950"/>
              <a:buFont typeface="Arial"/>
              <a:buNone/>
            </a:pPr>
            <a:r>
              <a:rPr lang="pt-BR" sz="1600" b="1" noProof="0" dirty="0">
                <a:solidFill>
                  <a:srgbClr val="000000"/>
                </a:solidFill>
                <a:latin typeface="Arial"/>
              </a:rPr>
              <a:t>Estrutura dos Dados – JSON</a:t>
            </a:r>
            <a:endParaRPr lang="pt-BR" b="1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51"/>
          <p:cNvSpPr/>
          <p:nvPr/>
        </p:nvSpPr>
        <p:spPr>
          <a:xfrm>
            <a:off x="1884539" y="3720721"/>
            <a:ext cx="4751400" cy="28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marR="0" lvl="0" indent="-346075" algn="l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50"/>
              <a:buFont typeface="Arial"/>
              <a:buChar char="●"/>
            </a:pPr>
            <a:r>
              <a:rPr lang="pt-BR" noProof="0" dirty="0">
                <a:solidFill>
                  <a:srgbClr val="000000"/>
                </a:solidFill>
                <a:latin typeface="Arial"/>
              </a:rPr>
              <a:t>Formato leve e padronizado</a:t>
            </a:r>
          </a:p>
          <a:p>
            <a:pPr marL="457200" indent="-346075">
              <a:lnSpc>
                <a:spcPct val="135135"/>
              </a:lnSpc>
              <a:buClr>
                <a:schemeClr val="dk1"/>
              </a:buClr>
              <a:buSzPts val="1850"/>
              <a:buFont typeface="Arial"/>
              <a:buChar char="●"/>
            </a:pPr>
            <a:r>
              <a:rPr lang="pt-BR" dirty="0"/>
              <a:t>Envia desempenho, progresso e parâmetros dos desafios</a:t>
            </a:r>
          </a:p>
          <a:p>
            <a:pPr marL="457200" indent="-346075">
              <a:lnSpc>
                <a:spcPct val="135135"/>
              </a:lnSpc>
              <a:buClr>
                <a:schemeClr val="dk1"/>
              </a:buClr>
              <a:buSzPts val="1850"/>
              <a:buFont typeface="Arial"/>
              <a:buChar char="●"/>
            </a:pPr>
            <a:r>
              <a:rPr lang="pt-BR" dirty="0"/>
              <a:t>Facilita a integração entre </a:t>
            </a:r>
            <a:r>
              <a:rPr lang="pt-BR" dirty="0" err="1"/>
              <a:t>frontend</a:t>
            </a:r>
            <a:r>
              <a:rPr lang="pt-BR" dirty="0"/>
              <a:t>, </a:t>
            </a:r>
            <a:r>
              <a:rPr lang="pt-BR" dirty="0" err="1"/>
              <a:t>backend</a:t>
            </a:r>
            <a:r>
              <a:rPr lang="pt-BR" dirty="0"/>
              <a:t> e IA</a:t>
            </a:r>
          </a:p>
          <a:p>
            <a:pPr marL="457200" indent="-346075">
              <a:lnSpc>
                <a:spcPct val="135135"/>
              </a:lnSpc>
              <a:buClr>
                <a:schemeClr val="dk1"/>
              </a:buClr>
              <a:buSzPts val="1850"/>
              <a:buFont typeface="Arial"/>
              <a:buChar char="●"/>
            </a:pPr>
            <a:endParaRPr lang="pt-BR" sz="1200" dirty="0"/>
          </a:p>
          <a:p>
            <a:pPr marL="457200" marR="0" lvl="0" indent="-346075" algn="l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50"/>
              <a:buFont typeface="Arial"/>
              <a:buChar char="●"/>
            </a:pPr>
            <a:endParaRPr lang="pt-BR" sz="1200" noProof="0" dirty="0">
              <a:solidFill>
                <a:srgbClr val="000000"/>
              </a:solidFill>
              <a:latin typeface="Arial"/>
            </a:endParaRPr>
          </a:p>
          <a:p>
            <a:pPr marL="457200" marR="0" lvl="0" indent="-346075" algn="l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50"/>
              <a:buFont typeface="Arial"/>
              <a:buChar char="●"/>
            </a:pPr>
            <a:endParaRPr lang="pt-BR" sz="1850" b="0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7" name="Google Shape;357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3838" y="2981321"/>
            <a:ext cx="914763" cy="620403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51"/>
          <p:cNvSpPr/>
          <p:nvPr/>
        </p:nvSpPr>
        <p:spPr>
          <a:xfrm>
            <a:off x="8880862" y="3076422"/>
            <a:ext cx="4925700" cy="4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Clr>
                <a:srgbClr val="504C49"/>
              </a:buClr>
              <a:buSzPts val="1950"/>
              <a:buFont typeface="Arial"/>
              <a:buNone/>
            </a:pPr>
            <a:r>
              <a:rPr lang="pt-BR" sz="1600" b="1" noProof="0" dirty="0">
                <a:solidFill>
                  <a:srgbClr val="000000"/>
                </a:solidFill>
                <a:latin typeface="Arial"/>
              </a:rPr>
              <a:t>Comunicação – API REST</a:t>
            </a:r>
            <a:endParaRPr lang="pt-BR" sz="2000" b="1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51"/>
          <p:cNvSpPr/>
          <p:nvPr/>
        </p:nvSpPr>
        <p:spPr>
          <a:xfrm>
            <a:off x="8880862" y="3720721"/>
            <a:ext cx="4925700" cy="23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457200" marR="0" lvl="0" indent="-346075" algn="l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50"/>
              <a:buFont typeface="Arial"/>
              <a:buChar char="●"/>
            </a:pPr>
            <a:r>
              <a:rPr lang="pt-BR" noProof="0" dirty="0">
                <a:solidFill>
                  <a:srgbClr val="000000"/>
                </a:solidFill>
                <a:latin typeface="Arial"/>
              </a:rPr>
              <a:t>Requisições HTTP/HTTPS</a:t>
            </a:r>
          </a:p>
          <a:p>
            <a:pPr marL="457200" indent="-346075">
              <a:lnSpc>
                <a:spcPct val="135135"/>
              </a:lnSpc>
              <a:buClr>
                <a:schemeClr val="dk1"/>
              </a:buClr>
              <a:buSzPts val="1850"/>
              <a:buFont typeface="Arial"/>
              <a:buChar char="●"/>
            </a:pPr>
            <a:r>
              <a:rPr lang="pt-BR" dirty="0" err="1"/>
              <a:t>Frontend</a:t>
            </a:r>
            <a:r>
              <a:rPr lang="pt-BR" dirty="0"/>
              <a:t> solicita desafios e envia respostas</a:t>
            </a:r>
          </a:p>
          <a:p>
            <a:pPr marL="457200" indent="-346075">
              <a:lnSpc>
                <a:spcPct val="135135"/>
              </a:lnSpc>
              <a:buClr>
                <a:schemeClr val="dk1"/>
              </a:buClr>
              <a:buSzPts val="1850"/>
              <a:buFont typeface="Arial"/>
              <a:buChar char="●"/>
            </a:pPr>
            <a:r>
              <a:rPr lang="pt-BR" dirty="0" err="1"/>
              <a:t>Backend</a:t>
            </a:r>
            <a:r>
              <a:rPr lang="pt-BR" dirty="0"/>
              <a:t> valida, persiste dados e aciona a IA</a:t>
            </a:r>
          </a:p>
          <a:p>
            <a:pPr marL="457200" indent="-346075">
              <a:lnSpc>
                <a:spcPct val="135135"/>
              </a:lnSpc>
              <a:buClr>
                <a:schemeClr val="dk1"/>
              </a:buClr>
              <a:buSzPts val="1850"/>
              <a:buFont typeface="Arial"/>
              <a:buChar char="●"/>
            </a:pPr>
            <a:endParaRPr lang="pt-BR" sz="1200" dirty="0"/>
          </a:p>
          <a:p>
            <a:pPr marL="457200" marR="0" lvl="0" indent="-346075" algn="l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50"/>
              <a:buFont typeface="Arial"/>
              <a:buChar char="●"/>
            </a:pPr>
            <a:endParaRPr lang="pt-BR" sz="1200" noProof="0" dirty="0">
              <a:solidFill>
                <a:srgbClr val="000000"/>
              </a:solidFill>
              <a:latin typeface="Arial"/>
            </a:endParaRPr>
          </a:p>
          <a:p>
            <a:pPr marL="457200" marR="0" lvl="0" indent="-346075" algn="l" rtl="0">
              <a:lnSpc>
                <a:spcPct val="13513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50"/>
              <a:buFont typeface="Arial"/>
              <a:buChar char="●"/>
            </a:pPr>
            <a:endParaRPr lang="pt-BR" sz="1850" b="0" i="0" u="none" strike="noStrike" cap="none" noProof="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0" name="Google Shape;360;p5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99613" y="2981321"/>
            <a:ext cx="1050099" cy="6204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12618600" cy="15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 b="1" noProof="0" dirty="0">
                <a:latin typeface="Arial"/>
                <a:ea typeface="Arial"/>
                <a:cs typeface="Arial"/>
                <a:sym typeface="Arial"/>
              </a:rPr>
              <a:t>Dashboard do Digital Twin</a:t>
            </a:r>
          </a:p>
        </p:txBody>
      </p:sp>
      <p:pic>
        <p:nvPicPr>
          <p:cNvPr id="366" name="Google Shape;366;p52"/>
          <p:cNvPicPr preferRelativeResize="0"/>
          <p:nvPr/>
        </p:nvPicPr>
        <p:blipFill rotWithShape="1">
          <a:blip r:embed="rId3">
            <a:alphaModFix/>
          </a:blip>
          <a:srcRect t="2296"/>
          <a:stretch/>
        </p:blipFill>
        <p:spPr>
          <a:xfrm>
            <a:off x="4864187" y="2005725"/>
            <a:ext cx="9100800" cy="48996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67" name="Google Shape;367;p52"/>
          <p:cNvGrpSpPr/>
          <p:nvPr/>
        </p:nvGrpSpPr>
        <p:grpSpPr>
          <a:xfrm>
            <a:off x="858735" y="5433256"/>
            <a:ext cx="3599682" cy="1029369"/>
            <a:chOff x="2283025" y="2322568"/>
            <a:chExt cx="2249802" cy="643356"/>
          </a:xfrm>
        </p:grpSpPr>
        <p:sp>
          <p:nvSpPr>
            <p:cNvPr id="368" name="Google Shape;368;p52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C57D3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52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C57D3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52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pt-BR" sz="1800" b="0" i="0" u="none" strike="noStrike" cap="none" noProof="0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Atualização contínua dos dados enviados pelo </a:t>
              </a:r>
              <a:r>
                <a:rPr lang="pt-BR" sz="1800" b="0" i="0" u="none" strike="noStrike" cap="none" noProof="0" dirty="0" err="1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LoRa</a:t>
              </a:r>
              <a:endParaRPr lang="pt-BR" sz="18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1" name="Google Shape;371;p52"/>
          <p:cNvGrpSpPr/>
          <p:nvPr/>
        </p:nvGrpSpPr>
        <p:grpSpPr>
          <a:xfrm>
            <a:off x="858735" y="4385469"/>
            <a:ext cx="3599682" cy="1029369"/>
            <a:chOff x="2283025" y="2322568"/>
            <a:chExt cx="2249802" cy="643356"/>
          </a:xfrm>
        </p:grpSpPr>
        <p:sp>
          <p:nvSpPr>
            <p:cNvPr id="372" name="Google Shape;372;p52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C57D3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52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C57D3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52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pt-BR" sz="1800" b="0" i="0" u="none" strike="noStrike" cap="none" noProof="0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Espelhamento direto do mundo real</a:t>
              </a:r>
              <a:endParaRPr lang="pt-BR" sz="18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5" name="Google Shape;375;p52"/>
          <p:cNvGrpSpPr/>
          <p:nvPr/>
        </p:nvGrpSpPr>
        <p:grpSpPr>
          <a:xfrm>
            <a:off x="858735" y="3337706"/>
            <a:ext cx="3599682" cy="1029369"/>
            <a:chOff x="2283025" y="2322568"/>
            <a:chExt cx="2249802" cy="643356"/>
          </a:xfrm>
        </p:grpSpPr>
        <p:sp>
          <p:nvSpPr>
            <p:cNvPr id="376" name="Google Shape;376;p52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C57D3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52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C57D3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52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pt-BR" sz="1800" b="0" i="0" u="none" strike="noStrike" cap="none" noProof="0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Superfície da água sobe e desce conforme o sensor</a:t>
              </a:r>
              <a:endParaRPr lang="pt-BR" sz="18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9" name="Google Shape;379;p52"/>
          <p:cNvGrpSpPr/>
          <p:nvPr/>
        </p:nvGrpSpPr>
        <p:grpSpPr>
          <a:xfrm>
            <a:off x="858735" y="2289919"/>
            <a:ext cx="3599682" cy="1029369"/>
            <a:chOff x="2283025" y="2322568"/>
            <a:chExt cx="2249802" cy="643356"/>
          </a:xfrm>
        </p:grpSpPr>
        <p:sp>
          <p:nvSpPr>
            <p:cNvPr id="380" name="Google Shape;380;p52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C57D3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52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C57D3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52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pt-BR" sz="1900" b="0" i="0" u="none" strike="noStrike" cap="none" noProof="0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Representa visualmente o reservatório</a:t>
              </a:r>
              <a:endParaRPr lang="pt-BR" sz="11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53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12618600" cy="15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 sz="2700" b="1" noProof="0" dirty="0">
                <a:solidFill>
                  <a:srgbClr val="000000"/>
                </a:solidFill>
                <a:latin typeface="Arial"/>
              </a:rPr>
              <a:t>Fluxo de funcionamento do sistema</a:t>
            </a:r>
            <a:endParaRPr lang="pt-BR" b="1" noProof="0" dirty="0">
              <a:latin typeface="Arial"/>
              <a:ea typeface="Arial"/>
              <a:cs typeface="Arial"/>
              <a:sym typeface="Arial"/>
            </a:endParaRPr>
          </a:p>
          <a:p>
            <a:pPr algn="ctr"/>
            <a:r>
              <a:rPr lang="pt-BR" sz="2700" b="1" noProof="0" dirty="0">
                <a:solidFill>
                  <a:srgbClr val="000000"/>
                </a:solidFill>
                <a:latin typeface="Arial"/>
              </a:rPr>
              <a:t>Da entrada do usuário à adaptação dos desafios</a:t>
            </a:r>
          </a:p>
        </p:txBody>
      </p:sp>
      <p:grpSp>
        <p:nvGrpSpPr>
          <p:cNvPr id="388" name="Google Shape;388;p53"/>
          <p:cNvGrpSpPr/>
          <p:nvPr/>
        </p:nvGrpSpPr>
        <p:grpSpPr>
          <a:xfrm>
            <a:off x="494140" y="2092349"/>
            <a:ext cx="5693400" cy="1479360"/>
            <a:chOff x="308838" y="1242975"/>
            <a:chExt cx="3558375" cy="924600"/>
          </a:xfrm>
        </p:grpSpPr>
        <p:cxnSp>
          <p:nvCxnSpPr>
            <p:cNvPr id="389" name="Google Shape;389;p53"/>
            <p:cNvCxnSpPr/>
            <p:nvPr/>
          </p:nvCxnSpPr>
          <p:spPr>
            <a:xfrm rot="10800000">
              <a:off x="2642013" y="1654113"/>
              <a:ext cx="1225200" cy="0"/>
            </a:xfrm>
            <a:prstGeom prst="straightConnector1">
              <a:avLst/>
            </a:prstGeom>
            <a:noFill/>
            <a:ln w="9525" cap="flat" cmpd="sng">
              <a:solidFill>
                <a:srgbClr val="307AF3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sp>
          <p:nvSpPr>
            <p:cNvPr id="390" name="Google Shape;390;p53"/>
            <p:cNvSpPr txBox="1"/>
            <p:nvPr/>
          </p:nvSpPr>
          <p:spPr>
            <a:xfrm>
              <a:off x="308838" y="1242975"/>
              <a:ext cx="2124000" cy="92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260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pt-BR" sz="1200" noProof="0" dirty="0">
                  <a:solidFill>
                    <a:srgbClr val="000000"/>
                  </a:solidFill>
                  <a:latin typeface="Arial"/>
                </a:rPr>
                <a:t>Usuário realiza login e acessa o jogo</a:t>
              </a:r>
              <a:endParaRPr lang="pt-BR" sz="2000" b="0" i="0" u="none" strike="noStrike" cap="none" noProof="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91" name="Google Shape;391;p53"/>
          <p:cNvGrpSpPr/>
          <p:nvPr/>
        </p:nvGrpSpPr>
        <p:grpSpPr>
          <a:xfrm>
            <a:off x="494140" y="4337389"/>
            <a:ext cx="5220960" cy="1479360"/>
            <a:chOff x="308838" y="2646125"/>
            <a:chExt cx="3263100" cy="924600"/>
          </a:xfrm>
        </p:grpSpPr>
        <p:cxnSp>
          <p:nvCxnSpPr>
            <p:cNvPr id="392" name="Google Shape;392;p53"/>
            <p:cNvCxnSpPr/>
            <p:nvPr/>
          </p:nvCxnSpPr>
          <p:spPr>
            <a:xfrm rot="10800000">
              <a:off x="2641938" y="3108425"/>
              <a:ext cx="930000" cy="0"/>
            </a:xfrm>
            <a:prstGeom prst="straightConnector1">
              <a:avLst/>
            </a:prstGeom>
            <a:noFill/>
            <a:ln w="9525" cap="flat" cmpd="sng">
              <a:solidFill>
                <a:srgbClr val="0E63F0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sp>
          <p:nvSpPr>
            <p:cNvPr id="393" name="Google Shape;393;p53"/>
            <p:cNvSpPr txBox="1"/>
            <p:nvPr/>
          </p:nvSpPr>
          <p:spPr>
            <a:xfrm>
              <a:off x="308838" y="2646125"/>
              <a:ext cx="2124000" cy="92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260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pt-BR" sz="1200" noProof="0" dirty="0" err="1">
                  <a:solidFill>
                    <a:srgbClr val="000000"/>
                  </a:solidFill>
                  <a:latin typeface="Arial"/>
                </a:rPr>
                <a:t>Frontend</a:t>
              </a:r>
              <a:r>
                <a:rPr lang="pt-BR" sz="1200" noProof="0" dirty="0">
                  <a:solidFill>
                    <a:srgbClr val="000000"/>
                  </a:solidFill>
                  <a:latin typeface="Arial"/>
                </a:rPr>
                <a:t> carrega progresso, fases e desafios disponíveis</a:t>
              </a:r>
              <a:endParaRPr lang="pt-BR" sz="2000" b="0" i="0" u="none" strike="noStrike" cap="none" noProof="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94" name="Google Shape;394;p53"/>
          <p:cNvGrpSpPr/>
          <p:nvPr/>
        </p:nvGrpSpPr>
        <p:grpSpPr>
          <a:xfrm>
            <a:off x="7452380" y="5530309"/>
            <a:ext cx="6660400" cy="1479360"/>
            <a:chOff x="4657738" y="3391700"/>
            <a:chExt cx="4162750" cy="924600"/>
          </a:xfrm>
        </p:grpSpPr>
        <p:cxnSp>
          <p:nvCxnSpPr>
            <p:cNvPr id="395" name="Google Shape;395;p53"/>
            <p:cNvCxnSpPr/>
            <p:nvPr/>
          </p:nvCxnSpPr>
          <p:spPr>
            <a:xfrm>
              <a:off x="4657738" y="3854000"/>
              <a:ext cx="1838700" cy="0"/>
            </a:xfrm>
            <a:prstGeom prst="straightConnector1">
              <a:avLst/>
            </a:prstGeom>
            <a:noFill/>
            <a:ln w="9525" cap="flat" cmpd="sng">
              <a:solidFill>
                <a:srgbClr val="0D5CDF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sp>
          <p:nvSpPr>
            <p:cNvPr id="396" name="Google Shape;396;p53"/>
            <p:cNvSpPr txBox="1"/>
            <p:nvPr/>
          </p:nvSpPr>
          <p:spPr>
            <a:xfrm>
              <a:off x="6696488" y="3391700"/>
              <a:ext cx="2124000" cy="92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260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pt-BR" sz="1200" noProof="0" dirty="0">
                  <a:solidFill>
                    <a:srgbClr val="000000"/>
                  </a:solidFill>
                  <a:latin typeface="Arial"/>
                </a:rPr>
                <a:t>Jogador resolve puzzles usando comandos lógicos</a:t>
              </a:r>
              <a:endParaRPr lang="pt-BR" sz="2000" b="0" i="0" u="none" strike="noStrike" cap="none" noProof="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97" name="Google Shape;397;p53"/>
          <p:cNvGrpSpPr/>
          <p:nvPr/>
        </p:nvGrpSpPr>
        <p:grpSpPr>
          <a:xfrm>
            <a:off x="8335740" y="2092349"/>
            <a:ext cx="5777040" cy="1479360"/>
            <a:chOff x="5209838" y="1242975"/>
            <a:chExt cx="3610650" cy="924600"/>
          </a:xfrm>
        </p:grpSpPr>
        <p:sp>
          <p:nvSpPr>
            <p:cNvPr id="398" name="Google Shape;398;p53"/>
            <p:cNvSpPr txBox="1"/>
            <p:nvPr/>
          </p:nvSpPr>
          <p:spPr>
            <a:xfrm>
              <a:off x="6696488" y="1242975"/>
              <a:ext cx="2124000" cy="92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260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pt-BR" sz="1200" noProof="0" dirty="0" err="1">
                  <a:solidFill>
                    <a:srgbClr val="000000"/>
                  </a:solidFill>
                  <a:latin typeface="Arial"/>
                </a:rPr>
                <a:t>Backend</a:t>
              </a:r>
              <a:r>
                <a:rPr lang="pt-BR" sz="1200" noProof="0" dirty="0">
                  <a:solidFill>
                    <a:srgbClr val="000000"/>
                  </a:solidFill>
                  <a:latin typeface="Arial"/>
                </a:rPr>
                <a:t> registra desempenho e atualiza o banco de dados</a:t>
              </a:r>
              <a:endParaRPr lang="pt-BR" sz="2000" b="0" i="0" u="none" strike="noStrike" cap="none" noProof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99" name="Google Shape;399;p53"/>
            <p:cNvCxnSpPr/>
            <p:nvPr/>
          </p:nvCxnSpPr>
          <p:spPr>
            <a:xfrm>
              <a:off x="5209838" y="1654113"/>
              <a:ext cx="1286700" cy="0"/>
            </a:xfrm>
            <a:prstGeom prst="straightConnector1">
              <a:avLst/>
            </a:prstGeom>
            <a:noFill/>
            <a:ln w="9525" cap="flat" cmpd="sng">
              <a:solidFill>
                <a:srgbClr val="0942A1"/>
              </a:solidFill>
              <a:prstDash val="solid"/>
              <a:round/>
              <a:headEnd type="none" w="sm" len="sm"/>
              <a:tailEnd type="oval" w="med" len="med"/>
            </a:ln>
          </p:spPr>
        </p:cxnSp>
      </p:grpSp>
      <p:grpSp>
        <p:nvGrpSpPr>
          <p:cNvPr id="400" name="Google Shape;400;p53"/>
          <p:cNvGrpSpPr/>
          <p:nvPr/>
        </p:nvGrpSpPr>
        <p:grpSpPr>
          <a:xfrm>
            <a:off x="8976460" y="3804949"/>
            <a:ext cx="5136320" cy="1479360"/>
            <a:chOff x="5610288" y="2313350"/>
            <a:chExt cx="3210200" cy="924600"/>
          </a:xfrm>
        </p:grpSpPr>
        <p:cxnSp>
          <p:nvCxnSpPr>
            <p:cNvPr id="401" name="Google Shape;401;p53"/>
            <p:cNvCxnSpPr/>
            <p:nvPr/>
          </p:nvCxnSpPr>
          <p:spPr>
            <a:xfrm>
              <a:off x="5610288" y="2775650"/>
              <a:ext cx="886200" cy="0"/>
            </a:xfrm>
            <a:prstGeom prst="straightConnector1">
              <a:avLst/>
            </a:prstGeom>
            <a:noFill/>
            <a:ln w="9525" cap="flat" cmpd="sng">
              <a:solidFill>
                <a:srgbClr val="0C57D3"/>
              </a:solidFill>
              <a:prstDash val="solid"/>
              <a:round/>
              <a:headEnd type="none" w="sm" len="sm"/>
              <a:tailEnd type="oval" w="med" len="med"/>
            </a:ln>
          </p:spPr>
        </p:cxnSp>
        <p:sp>
          <p:nvSpPr>
            <p:cNvPr id="402" name="Google Shape;402;p53"/>
            <p:cNvSpPr txBox="1"/>
            <p:nvPr/>
          </p:nvSpPr>
          <p:spPr>
            <a:xfrm>
              <a:off x="6696488" y="2313350"/>
              <a:ext cx="2124000" cy="92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45720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260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pt-BR" sz="1200" noProof="0" dirty="0">
                  <a:solidFill>
                    <a:srgbClr val="000000"/>
                  </a:solidFill>
                  <a:latin typeface="Arial"/>
                </a:rPr>
                <a:t>Sistema adaptativo ajusta dificuldade e solicita novos desafios à IA</a:t>
              </a:r>
              <a:endParaRPr lang="pt-BR" sz="2000" b="0" i="0" u="none" strike="noStrike" cap="none" noProof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53"/>
          <p:cNvGrpSpPr/>
          <p:nvPr/>
        </p:nvGrpSpPr>
        <p:grpSpPr>
          <a:xfrm>
            <a:off x="4161979" y="1151485"/>
            <a:ext cx="6275519" cy="6265321"/>
            <a:chOff x="2610906" y="610653"/>
            <a:chExt cx="3922200" cy="3922200"/>
          </a:xfrm>
        </p:grpSpPr>
        <p:sp>
          <p:nvSpPr>
            <p:cNvPr id="404" name="Google Shape;404;p53"/>
            <p:cNvSpPr/>
            <p:nvPr/>
          </p:nvSpPr>
          <p:spPr>
            <a:xfrm rot="-4980021">
              <a:off x="3204123" y="1186472"/>
              <a:ext cx="2771960" cy="2771960"/>
            </a:xfrm>
            <a:prstGeom prst="blockArc">
              <a:avLst>
                <a:gd name="adj1" fmla="val 12602522"/>
                <a:gd name="adj2" fmla="val 16867657"/>
                <a:gd name="adj3" fmla="val 20844"/>
              </a:avLst>
            </a:prstGeom>
            <a:solidFill>
              <a:srgbClr val="0E63F0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5" name="Google Shape;405;p53"/>
            <p:cNvSpPr/>
            <p:nvPr/>
          </p:nvSpPr>
          <p:spPr>
            <a:xfrm rot="7920309">
              <a:off x="3183402" y="1183149"/>
              <a:ext cx="2777207" cy="2777207"/>
            </a:xfrm>
            <a:prstGeom prst="blockArc">
              <a:avLst>
                <a:gd name="adj1" fmla="val 12602522"/>
                <a:gd name="adj2" fmla="val 16867657"/>
                <a:gd name="adj3" fmla="val 20844"/>
              </a:avLst>
            </a:prstGeom>
            <a:solidFill>
              <a:srgbClr val="0C57D3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" name="Google Shape;406;p53"/>
            <p:cNvSpPr/>
            <p:nvPr/>
          </p:nvSpPr>
          <p:spPr>
            <a:xfrm rot="3600063">
              <a:off x="3186335" y="1195681"/>
              <a:ext cx="2777488" cy="2777488"/>
            </a:xfrm>
            <a:prstGeom prst="blockArc">
              <a:avLst>
                <a:gd name="adj1" fmla="val 12602522"/>
                <a:gd name="adj2" fmla="val 16867657"/>
                <a:gd name="adj3" fmla="val 20844"/>
              </a:avLst>
            </a:prstGeom>
            <a:solidFill>
              <a:srgbClr val="0942A1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" name="Google Shape;407;p53"/>
            <p:cNvSpPr/>
            <p:nvPr/>
          </p:nvSpPr>
          <p:spPr>
            <a:xfrm rot="4024705">
              <a:off x="5326681" y="1940898"/>
              <a:ext cx="578477" cy="579147"/>
            </a:xfrm>
            <a:prstGeom prst="pie">
              <a:avLst>
                <a:gd name="adj1" fmla="val 6190354"/>
                <a:gd name="adj2" fmla="val 14996165"/>
              </a:avLst>
            </a:prstGeom>
            <a:solidFill>
              <a:srgbClr val="0C57D3"/>
            </a:solidFill>
            <a:ln>
              <a:noFill/>
            </a:ln>
            <a:effectLst>
              <a:outerShdw blurRad="228600" algn="bl" rotWithShape="0">
                <a:srgbClr val="000000">
                  <a:alpha val="42745"/>
                </a:srgbClr>
              </a:outerShdw>
            </a:effectLst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" name="Google Shape;408;p53"/>
            <p:cNvSpPr/>
            <p:nvPr/>
          </p:nvSpPr>
          <p:spPr>
            <a:xfrm rot="-6816027">
              <a:off x="5326729" y="1940918"/>
              <a:ext cx="578485" cy="579035"/>
            </a:xfrm>
            <a:prstGeom prst="pie">
              <a:avLst>
                <a:gd name="adj1" fmla="val 4028252"/>
                <a:gd name="adj2" fmla="val 17183677"/>
              </a:avLst>
            </a:prstGeom>
            <a:solidFill>
              <a:srgbClr val="0C57D3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" name="Google Shape;409;p53"/>
            <p:cNvSpPr/>
            <p:nvPr/>
          </p:nvSpPr>
          <p:spPr>
            <a:xfrm rot="-9359762">
              <a:off x="3193941" y="1176205"/>
              <a:ext cx="2777287" cy="2777287"/>
            </a:xfrm>
            <a:prstGeom prst="blockArc">
              <a:avLst>
                <a:gd name="adj1" fmla="val 12602522"/>
                <a:gd name="adj2" fmla="val 16867657"/>
                <a:gd name="adj3" fmla="val 20844"/>
              </a:avLst>
            </a:prstGeom>
            <a:solidFill>
              <a:srgbClr val="0D5CDF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" name="Google Shape;410;p53"/>
            <p:cNvSpPr/>
            <p:nvPr/>
          </p:nvSpPr>
          <p:spPr>
            <a:xfrm rot="-8936366">
              <a:off x="3659126" y="3173505"/>
              <a:ext cx="578551" cy="578963"/>
            </a:xfrm>
            <a:prstGeom prst="pie">
              <a:avLst>
                <a:gd name="adj1" fmla="val 6190354"/>
                <a:gd name="adj2" fmla="val 14996165"/>
              </a:avLst>
            </a:prstGeom>
            <a:solidFill>
              <a:srgbClr val="0E63F0"/>
            </a:solidFill>
            <a:ln>
              <a:noFill/>
            </a:ln>
            <a:effectLst>
              <a:outerShdw blurRad="228600" algn="bl" rotWithShape="0">
                <a:srgbClr val="000000">
                  <a:alpha val="42745"/>
                </a:srgbClr>
              </a:outerShdw>
            </a:effectLst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" name="Google Shape;411;p53"/>
            <p:cNvSpPr/>
            <p:nvPr/>
          </p:nvSpPr>
          <p:spPr>
            <a:xfrm rot="1824498">
              <a:off x="3659375" y="3173497"/>
              <a:ext cx="578475" cy="578885"/>
            </a:xfrm>
            <a:prstGeom prst="pie">
              <a:avLst>
                <a:gd name="adj1" fmla="val 4028252"/>
                <a:gd name="adj2" fmla="val 17183677"/>
              </a:avLst>
            </a:prstGeom>
            <a:solidFill>
              <a:srgbClr val="0E63F0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" name="Google Shape;412;p53"/>
            <p:cNvSpPr/>
            <p:nvPr/>
          </p:nvSpPr>
          <p:spPr>
            <a:xfrm rot="-600092">
              <a:off x="3198852" y="1195456"/>
              <a:ext cx="2777611" cy="2777611"/>
            </a:xfrm>
            <a:prstGeom prst="blockArc">
              <a:avLst>
                <a:gd name="adj1" fmla="val 12513247"/>
                <a:gd name="adj2" fmla="val 16867657"/>
                <a:gd name="adj3" fmla="val 20844"/>
              </a:avLst>
            </a:prstGeom>
            <a:solidFill>
              <a:srgbClr val="307AF3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" name="Google Shape;413;p53"/>
            <p:cNvSpPr/>
            <p:nvPr/>
          </p:nvSpPr>
          <p:spPr>
            <a:xfrm rot="-176551">
              <a:off x="4312105" y="1195442"/>
              <a:ext cx="578563" cy="579162"/>
            </a:xfrm>
            <a:prstGeom prst="pie">
              <a:avLst>
                <a:gd name="adj1" fmla="val 6190354"/>
                <a:gd name="adj2" fmla="val 14996165"/>
              </a:avLst>
            </a:prstGeom>
            <a:solidFill>
              <a:srgbClr val="0942A1"/>
            </a:solidFill>
            <a:ln>
              <a:noFill/>
            </a:ln>
            <a:effectLst>
              <a:outerShdw blurRad="228600" algn="bl" rotWithShape="0">
                <a:srgbClr val="000000">
                  <a:alpha val="42745"/>
                </a:srgbClr>
              </a:outerShdw>
            </a:effectLst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" name="Google Shape;414;p53"/>
            <p:cNvSpPr/>
            <p:nvPr/>
          </p:nvSpPr>
          <p:spPr>
            <a:xfrm rot="10584085">
              <a:off x="4312088" y="1195622"/>
              <a:ext cx="578340" cy="578939"/>
            </a:xfrm>
            <a:prstGeom prst="pie">
              <a:avLst>
                <a:gd name="adj1" fmla="val 4028252"/>
                <a:gd name="adj2" fmla="val 17183677"/>
              </a:avLst>
            </a:prstGeom>
            <a:solidFill>
              <a:srgbClr val="0942A1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" name="Google Shape;415;p53"/>
            <p:cNvSpPr/>
            <p:nvPr/>
          </p:nvSpPr>
          <p:spPr>
            <a:xfrm rot="8344778">
              <a:off x="4940929" y="3162886"/>
              <a:ext cx="578465" cy="578888"/>
            </a:xfrm>
            <a:prstGeom prst="pie">
              <a:avLst>
                <a:gd name="adj1" fmla="val 6190354"/>
                <a:gd name="adj2" fmla="val 14996165"/>
              </a:avLst>
            </a:prstGeom>
            <a:solidFill>
              <a:srgbClr val="0D5CDF"/>
            </a:solidFill>
            <a:ln>
              <a:noFill/>
            </a:ln>
            <a:effectLst>
              <a:outerShdw blurRad="228600" algn="bl" rotWithShape="0">
                <a:srgbClr val="000000">
                  <a:alpha val="42745"/>
                </a:srgbClr>
              </a:outerShdw>
            </a:effectLst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" name="Google Shape;416;p53"/>
            <p:cNvSpPr/>
            <p:nvPr/>
          </p:nvSpPr>
          <p:spPr>
            <a:xfrm rot="-2495643">
              <a:off x="4941000" y="3162728"/>
              <a:ext cx="578445" cy="579093"/>
            </a:xfrm>
            <a:prstGeom prst="pie">
              <a:avLst>
                <a:gd name="adj1" fmla="val 4028252"/>
                <a:gd name="adj2" fmla="val 17183677"/>
              </a:avLst>
            </a:prstGeom>
            <a:solidFill>
              <a:srgbClr val="0D5CDF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" name="Google Shape;417;p53"/>
            <p:cNvSpPr/>
            <p:nvPr/>
          </p:nvSpPr>
          <p:spPr>
            <a:xfrm rot="-4556960">
              <a:off x="3257335" y="1939059"/>
              <a:ext cx="578302" cy="578957"/>
            </a:xfrm>
            <a:prstGeom prst="pie">
              <a:avLst>
                <a:gd name="adj1" fmla="val 6190354"/>
                <a:gd name="adj2" fmla="val 14996165"/>
              </a:avLst>
            </a:prstGeom>
            <a:solidFill>
              <a:srgbClr val="307AF3"/>
            </a:solidFill>
            <a:ln>
              <a:noFill/>
            </a:ln>
            <a:effectLst>
              <a:outerShdw blurRad="228600" algn="bl" rotWithShape="0">
                <a:srgbClr val="000000">
                  <a:alpha val="42745"/>
                </a:srgbClr>
              </a:outerShdw>
            </a:effectLst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" name="Google Shape;418;p53"/>
            <p:cNvSpPr/>
            <p:nvPr/>
          </p:nvSpPr>
          <p:spPr>
            <a:xfrm rot="6204541">
              <a:off x="3257468" y="1938977"/>
              <a:ext cx="578264" cy="578917"/>
            </a:xfrm>
            <a:prstGeom prst="pie">
              <a:avLst>
                <a:gd name="adj1" fmla="val 4028252"/>
                <a:gd name="adj2" fmla="val 17183677"/>
              </a:avLst>
            </a:prstGeom>
            <a:solidFill>
              <a:srgbClr val="307AF3"/>
            </a:solidFill>
            <a:ln>
              <a:noFill/>
            </a:ln>
          </p:spPr>
          <p:txBody>
            <a:bodyPr spcFirstLastPara="1" wrap="square" lIns="146275" tIns="146275" rIns="146275" bIns="146275" anchor="ctr" anchorCtr="0">
              <a:norm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lang="pt-BR" sz="1400" b="0" i="0" u="none" strike="noStrike" cap="none" noProof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" name="Google Shape;419;p53"/>
            <p:cNvSpPr txBox="1"/>
            <p:nvPr/>
          </p:nvSpPr>
          <p:spPr>
            <a:xfrm>
              <a:off x="4341900" y="1271896"/>
              <a:ext cx="507900" cy="26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t" anchorCtr="0">
              <a:normAutofit fontScale="40000" lnSpcReduction="20000"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lang="pt-BR" sz="2600" b="1" i="0" u="none" strike="noStrike" cap="none" noProof="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05</a:t>
              </a:r>
            </a:p>
          </p:txBody>
        </p:sp>
        <p:sp>
          <p:nvSpPr>
            <p:cNvPr id="420" name="Google Shape;420;p53"/>
            <p:cNvSpPr txBox="1"/>
            <p:nvPr/>
          </p:nvSpPr>
          <p:spPr>
            <a:xfrm>
              <a:off x="3274219" y="2018364"/>
              <a:ext cx="507900" cy="26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t" anchorCtr="0">
              <a:normAutofit fontScale="40000" lnSpcReduction="20000"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lang="pt-BR" sz="2600" b="1" i="0" u="none" strike="noStrike" cap="none" noProof="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01</a:t>
              </a:r>
            </a:p>
          </p:txBody>
        </p:sp>
        <p:sp>
          <p:nvSpPr>
            <p:cNvPr id="421" name="Google Shape;421;p53"/>
            <p:cNvSpPr txBox="1"/>
            <p:nvPr/>
          </p:nvSpPr>
          <p:spPr>
            <a:xfrm>
              <a:off x="3685317" y="3247321"/>
              <a:ext cx="507900" cy="26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t" anchorCtr="0">
              <a:normAutofit fontScale="40000" lnSpcReduction="20000"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lang="pt-BR" sz="2600" b="1" i="0" u="none" strike="noStrike" cap="none" noProof="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02</a:t>
              </a:r>
            </a:p>
          </p:txBody>
        </p:sp>
        <p:sp>
          <p:nvSpPr>
            <p:cNvPr id="422" name="Google Shape;422;p53"/>
            <p:cNvSpPr txBox="1"/>
            <p:nvPr/>
          </p:nvSpPr>
          <p:spPr>
            <a:xfrm>
              <a:off x="4955323" y="3247321"/>
              <a:ext cx="507900" cy="26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t" anchorCtr="0">
              <a:normAutofit fontScale="40000" lnSpcReduction="20000"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lang="pt-BR" sz="2600" b="1" i="0" u="none" strike="noStrike" cap="none" noProof="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03</a:t>
              </a:r>
            </a:p>
          </p:txBody>
        </p:sp>
        <p:sp>
          <p:nvSpPr>
            <p:cNvPr id="423" name="Google Shape;423;p53"/>
            <p:cNvSpPr txBox="1"/>
            <p:nvPr/>
          </p:nvSpPr>
          <p:spPr>
            <a:xfrm>
              <a:off x="5364737" y="2018364"/>
              <a:ext cx="507900" cy="26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6275" tIns="146275" rIns="146275" bIns="146275" anchor="t" anchorCtr="0">
              <a:normAutofit fontScale="40000" lnSpcReduction="20000"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00"/>
                <a:buFont typeface="Arial"/>
                <a:buNone/>
              </a:pPr>
              <a:r>
                <a:rPr lang="pt-BR" sz="2600" b="1" i="0" u="none" strike="noStrike" cap="none" noProof="0" dirty="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04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TextBox 439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pt-BR" sz="3000" b="1" noProof="0" dirty="0">
                <a:solidFill>
                  <a:srgbClr val="000000"/>
                </a:solidFill>
                <a:latin typeface="Arial"/>
              </a:rPr>
              <a:t>Conclusão </a:t>
            </a:r>
            <a:r>
              <a:rPr lang="pt-BR" sz="3000" b="1" dirty="0"/>
              <a:t>Final</a:t>
            </a:r>
            <a:endParaRPr lang="pt-BR" sz="3000" b="1" noProof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Box 440"/>
          <p:cNvSpPr txBox="1"/>
          <p:nvPr/>
        </p:nvSpPr>
        <p:spPr>
          <a:xfrm>
            <a:off x="822960" y="1600200"/>
            <a:ext cx="1069848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pt-BR" sz="1600" b="0" noProof="0" dirty="0">
                <a:solidFill>
                  <a:srgbClr val="5A5A5A"/>
                </a:solidFill>
                <a:latin typeface="Arial"/>
              </a:rPr>
              <a:t>A primeira etapa consolidou a base teórica, metodológica e técnica para o desenvolvimento do projeto.</a:t>
            </a:r>
          </a:p>
        </p:txBody>
      </p:sp>
      <p:sp>
        <p:nvSpPr>
          <p:cNvPr id="442" name="Rounded Rectangle 441"/>
          <p:cNvSpPr/>
          <p:nvPr/>
        </p:nvSpPr>
        <p:spPr>
          <a:xfrm>
            <a:off x="914400" y="3079699"/>
            <a:ext cx="4846320" cy="1051560"/>
          </a:xfrm>
          <a:prstGeom prst="roundRect">
            <a:avLst/>
          </a:prstGeom>
          <a:solidFill>
            <a:srgbClr val="2570E2"/>
          </a:solidFill>
          <a:ln>
            <a:solidFill>
              <a:srgbClr val="257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43" name="TextBox 442"/>
          <p:cNvSpPr txBox="1"/>
          <p:nvPr/>
        </p:nvSpPr>
        <p:spPr>
          <a:xfrm>
            <a:off x="1115568" y="3226003"/>
            <a:ext cx="4434840" cy="256032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lang="pt-BR" sz="1400" b="1" noProof="0" dirty="0">
                <a:solidFill>
                  <a:srgbClr val="FFFFFF"/>
                </a:solidFill>
                <a:latin typeface="Arial"/>
              </a:rPr>
              <a:t>Base teórica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1115568" y="3555187"/>
            <a:ext cx="4434840" cy="40233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pt-BR" sz="1050" b="0" noProof="0" dirty="0">
                <a:solidFill>
                  <a:srgbClr val="FFFFFF"/>
                </a:solidFill>
                <a:latin typeface="Arial"/>
              </a:rPr>
              <a:t>A revisão bibliográfica reforça o uso de IA, gamificação e aprendizagem ativa no ensino de programação.</a:t>
            </a:r>
          </a:p>
        </p:txBody>
      </p:sp>
      <p:sp>
        <p:nvSpPr>
          <p:cNvPr id="445" name="Rounded Rectangle 444"/>
          <p:cNvSpPr/>
          <p:nvPr/>
        </p:nvSpPr>
        <p:spPr>
          <a:xfrm>
            <a:off x="7958937" y="3079699"/>
            <a:ext cx="4846320" cy="1051560"/>
          </a:xfrm>
          <a:prstGeom prst="roundRect">
            <a:avLst/>
          </a:prstGeom>
          <a:solidFill>
            <a:srgbClr val="2570E2"/>
          </a:solidFill>
          <a:ln>
            <a:solidFill>
              <a:srgbClr val="257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46" name="TextBox 445"/>
          <p:cNvSpPr txBox="1"/>
          <p:nvPr/>
        </p:nvSpPr>
        <p:spPr>
          <a:xfrm>
            <a:off x="8160105" y="3226003"/>
            <a:ext cx="4434840" cy="256032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lang="pt-BR" sz="1400" b="1" noProof="0" dirty="0">
                <a:solidFill>
                  <a:srgbClr val="FFFFFF"/>
                </a:solidFill>
                <a:latin typeface="Arial"/>
              </a:rPr>
              <a:t>Proposta do sistema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8160105" y="3555187"/>
            <a:ext cx="4434840" cy="40233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pt-BR" sz="1050" b="0" noProof="0" dirty="0">
                <a:solidFill>
                  <a:srgbClr val="FFFFFF"/>
                </a:solidFill>
                <a:latin typeface="Arial"/>
              </a:rPr>
              <a:t>O projeto busca gerar desafios de algoritmos personalizados e aumentar o engajamento dos estudantes.</a:t>
            </a:r>
          </a:p>
        </p:txBody>
      </p:sp>
      <p:sp>
        <p:nvSpPr>
          <p:cNvPr id="448" name="Rounded Rectangle 447"/>
          <p:cNvSpPr/>
          <p:nvPr/>
        </p:nvSpPr>
        <p:spPr>
          <a:xfrm>
            <a:off x="914400" y="5217564"/>
            <a:ext cx="4846320" cy="1051560"/>
          </a:xfrm>
          <a:prstGeom prst="roundRect">
            <a:avLst/>
          </a:prstGeom>
          <a:solidFill>
            <a:srgbClr val="2570E2"/>
          </a:solidFill>
          <a:ln>
            <a:solidFill>
              <a:srgbClr val="257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49" name="TextBox 448"/>
          <p:cNvSpPr txBox="1"/>
          <p:nvPr/>
        </p:nvSpPr>
        <p:spPr>
          <a:xfrm>
            <a:off x="1115568" y="5363868"/>
            <a:ext cx="4434840" cy="256032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lang="pt-BR" sz="1400" b="1" noProof="0" dirty="0">
                <a:solidFill>
                  <a:srgbClr val="FFFFFF"/>
                </a:solidFill>
                <a:latin typeface="Arial"/>
              </a:rPr>
              <a:t>Metodologia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115568" y="5693052"/>
            <a:ext cx="4434840" cy="40233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pt-BR" sz="1050" b="0" noProof="0" dirty="0">
                <a:solidFill>
                  <a:srgbClr val="FFFFFF"/>
                </a:solidFill>
                <a:latin typeface="Arial"/>
              </a:rPr>
              <a:t>A pesquisa é aplicada e tecnológica, com desenvolvimento web, integração com IA e testes funcionais.</a:t>
            </a:r>
          </a:p>
        </p:txBody>
      </p:sp>
      <p:sp>
        <p:nvSpPr>
          <p:cNvPr id="451" name="Rounded Rectangle 450"/>
          <p:cNvSpPr/>
          <p:nvPr/>
        </p:nvSpPr>
        <p:spPr>
          <a:xfrm>
            <a:off x="7958937" y="5217564"/>
            <a:ext cx="4846320" cy="1051560"/>
          </a:xfrm>
          <a:prstGeom prst="roundRect">
            <a:avLst/>
          </a:prstGeom>
          <a:solidFill>
            <a:srgbClr val="2570E2"/>
          </a:solidFill>
          <a:ln>
            <a:solidFill>
              <a:srgbClr val="257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52" name="TextBox 451"/>
          <p:cNvSpPr txBox="1"/>
          <p:nvPr/>
        </p:nvSpPr>
        <p:spPr>
          <a:xfrm>
            <a:off x="8160105" y="5363868"/>
            <a:ext cx="4434840" cy="256032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lang="pt-BR" sz="1400" b="1" noProof="0" dirty="0">
                <a:solidFill>
                  <a:srgbClr val="FFFFFF"/>
                </a:solidFill>
                <a:latin typeface="Arial"/>
              </a:rPr>
              <a:t>Modelagem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8160105" y="5693052"/>
            <a:ext cx="4434840" cy="40233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pt-BR" sz="1050" b="0" noProof="0" dirty="0">
                <a:solidFill>
                  <a:srgbClr val="FFFFFF"/>
                </a:solidFill>
                <a:latin typeface="Arial"/>
              </a:rPr>
              <a:t>A arquitetura, UML e DER orientam uma implementação organizada, escalável e manutenível.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56"/>
          <p:cNvSpPr txBox="1"/>
          <p:nvPr/>
        </p:nvSpPr>
        <p:spPr>
          <a:xfrm>
            <a:off x="793790" y="1706712"/>
            <a:ext cx="13305000" cy="58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indent="-349250">
              <a:lnSpc>
                <a:spcPct val="115000"/>
              </a:lnSpc>
              <a:spcBef>
                <a:spcPts val="1200"/>
              </a:spcBef>
              <a:buClr>
                <a:schemeClr val="dk1"/>
              </a:buClr>
              <a:buSzPts val="1900"/>
              <a:buFont typeface="Arial"/>
              <a:buChar char="➔"/>
            </a:pPr>
            <a:r>
              <a:rPr lang="pt-BR" sz="1600" b="1" dirty="0">
                <a:solidFill>
                  <a:schemeClr val="dk1"/>
                </a:solidFill>
              </a:rPr>
              <a:t>Implementação do protótipo web</a:t>
            </a:r>
            <a:br>
              <a:rPr lang="pt-BR" sz="1600" b="1" dirty="0">
                <a:solidFill>
                  <a:schemeClr val="dk1"/>
                </a:solidFill>
              </a:rPr>
            </a:br>
            <a:r>
              <a:rPr lang="pt-BR" sz="1600" dirty="0">
                <a:solidFill>
                  <a:schemeClr val="dk1"/>
                </a:solidFill>
              </a:rPr>
              <a:t> Desenvolver as fases, puzzles, menu, autenticação e progressão do jogo.</a:t>
            </a:r>
          </a:p>
          <a:p>
            <a:pPr marL="107950" lvl="0">
              <a:lnSpc>
                <a:spcPct val="115000"/>
              </a:lnSpc>
              <a:spcBef>
                <a:spcPts val="1200"/>
              </a:spcBef>
              <a:buClr>
                <a:schemeClr val="dk1"/>
              </a:buClr>
              <a:buSzPts val="1900"/>
            </a:pPr>
            <a:endParaRPr lang="pt-BR" sz="1600" dirty="0">
              <a:solidFill>
                <a:schemeClr val="dk1"/>
              </a:solidFill>
            </a:endParaRPr>
          </a:p>
          <a:p>
            <a:pPr marL="457200" lvl="0" indent="-349250">
              <a:lnSpc>
                <a:spcPct val="115000"/>
              </a:lnSpc>
              <a:buClr>
                <a:schemeClr val="dk1"/>
              </a:buClr>
              <a:buSzPts val="1900"/>
              <a:buFont typeface="Arial"/>
              <a:buChar char="➔"/>
            </a:pPr>
            <a:r>
              <a:rPr lang="pt-BR" sz="1600" b="1" dirty="0">
                <a:solidFill>
                  <a:schemeClr val="dk1"/>
                </a:solidFill>
              </a:rPr>
              <a:t>Integração com IA generativa</a:t>
            </a:r>
            <a:br>
              <a:rPr lang="pt-BR" sz="1600" b="1" dirty="0">
                <a:solidFill>
                  <a:schemeClr val="dk1"/>
                </a:solidFill>
              </a:rPr>
            </a:br>
            <a:r>
              <a:rPr lang="pt-BR" sz="1600" dirty="0">
                <a:solidFill>
                  <a:schemeClr val="dk1"/>
                </a:solidFill>
              </a:rPr>
              <a:t> Conectar o </a:t>
            </a:r>
            <a:r>
              <a:rPr lang="pt-BR" sz="1600" dirty="0" err="1">
                <a:solidFill>
                  <a:schemeClr val="dk1"/>
                </a:solidFill>
              </a:rPr>
              <a:t>backend</a:t>
            </a:r>
            <a:r>
              <a:rPr lang="pt-BR" sz="1600" dirty="0">
                <a:solidFill>
                  <a:schemeClr val="dk1"/>
                </a:solidFill>
              </a:rPr>
              <a:t> à API de IA para criação de desafios adaptativos.</a:t>
            </a:r>
          </a:p>
          <a:p>
            <a:pPr marL="107950" lvl="0">
              <a:lnSpc>
                <a:spcPct val="115000"/>
              </a:lnSpc>
              <a:buClr>
                <a:schemeClr val="dk1"/>
              </a:buClr>
              <a:buSzPts val="1900"/>
            </a:pPr>
            <a:endParaRPr lang="pt-BR" sz="1600" dirty="0">
              <a:solidFill>
                <a:schemeClr val="dk1"/>
              </a:solidFill>
            </a:endParaRPr>
          </a:p>
          <a:p>
            <a:pPr marL="457200" lvl="0" indent="-349250">
              <a:lnSpc>
                <a:spcPct val="115000"/>
              </a:lnSpc>
              <a:buClr>
                <a:schemeClr val="dk1"/>
              </a:buClr>
              <a:buSzPts val="1900"/>
              <a:buFont typeface="Arial"/>
              <a:buChar char="➔"/>
            </a:pPr>
            <a:r>
              <a:rPr lang="pt-BR" sz="1600" b="1" dirty="0">
                <a:solidFill>
                  <a:schemeClr val="dk1"/>
                </a:solidFill>
              </a:rPr>
              <a:t>Persistência e análise de desempenho</a:t>
            </a:r>
            <a:br>
              <a:rPr lang="pt-BR" sz="1600" b="1" dirty="0">
                <a:solidFill>
                  <a:schemeClr val="dk1"/>
                </a:solidFill>
              </a:rPr>
            </a:br>
            <a:r>
              <a:rPr lang="pt-BR" sz="1600" dirty="0">
                <a:solidFill>
                  <a:schemeClr val="dk1"/>
                </a:solidFill>
              </a:rPr>
              <a:t> Registrar progresso, acertos, erros, tentativas e tópicos com maior dificuldade.</a:t>
            </a:r>
          </a:p>
          <a:p>
            <a:pPr marL="107950" lvl="0">
              <a:lnSpc>
                <a:spcPct val="115000"/>
              </a:lnSpc>
              <a:buClr>
                <a:schemeClr val="dk1"/>
              </a:buClr>
              <a:buSzPts val="1900"/>
            </a:pPr>
            <a:endParaRPr lang="pt-BR" sz="1600" dirty="0">
              <a:solidFill>
                <a:schemeClr val="dk1"/>
              </a:solidFill>
            </a:endParaRPr>
          </a:p>
          <a:p>
            <a:pPr marL="457200" lvl="0" indent="-349250">
              <a:lnSpc>
                <a:spcPct val="115000"/>
              </a:lnSpc>
              <a:buClr>
                <a:schemeClr val="dk1"/>
              </a:buClr>
              <a:buSzPts val="1900"/>
              <a:buFont typeface="Arial"/>
              <a:buChar char="➔"/>
            </a:pPr>
            <a:r>
              <a:rPr lang="pt-BR" sz="1600" b="1" dirty="0">
                <a:solidFill>
                  <a:schemeClr val="dk1"/>
                </a:solidFill>
              </a:rPr>
              <a:t>Testes funcionais e validação</a:t>
            </a:r>
            <a:br>
              <a:rPr lang="pt-BR" sz="1600" b="1" dirty="0">
                <a:solidFill>
                  <a:schemeClr val="dk1"/>
                </a:solidFill>
              </a:rPr>
            </a:br>
            <a:r>
              <a:rPr lang="pt-BR" sz="1600" dirty="0">
                <a:solidFill>
                  <a:schemeClr val="dk1"/>
                </a:solidFill>
              </a:rPr>
              <a:t> Verificar mecânicas, comunicação </a:t>
            </a:r>
            <a:r>
              <a:rPr lang="pt-BR" sz="1600" dirty="0" err="1">
                <a:solidFill>
                  <a:schemeClr val="dk1"/>
                </a:solidFill>
              </a:rPr>
              <a:t>frontend</a:t>
            </a:r>
            <a:r>
              <a:rPr lang="pt-BR" sz="1600" dirty="0">
                <a:solidFill>
                  <a:schemeClr val="dk1"/>
                </a:solidFill>
              </a:rPr>
              <a:t>/</a:t>
            </a:r>
            <a:r>
              <a:rPr lang="pt-BR" sz="1600" dirty="0" err="1">
                <a:solidFill>
                  <a:schemeClr val="dk1"/>
                </a:solidFill>
              </a:rPr>
              <a:t>backend</a:t>
            </a:r>
            <a:r>
              <a:rPr lang="pt-BR" sz="1600" dirty="0">
                <a:solidFill>
                  <a:schemeClr val="dk1"/>
                </a:solidFill>
              </a:rPr>
              <a:t> e qualidade dos desafios gerados.</a:t>
            </a:r>
          </a:p>
          <a:p>
            <a:pPr marL="107950" lvl="0">
              <a:lnSpc>
                <a:spcPct val="115000"/>
              </a:lnSpc>
              <a:buClr>
                <a:schemeClr val="dk1"/>
              </a:buClr>
              <a:buSzPts val="1900"/>
            </a:pPr>
            <a:endParaRPr lang="pt-BR" sz="1600" dirty="0">
              <a:solidFill>
                <a:schemeClr val="dk1"/>
              </a:solidFill>
            </a:endParaRPr>
          </a:p>
          <a:p>
            <a:pPr marL="457200" lvl="0" indent="-349250">
              <a:lnSpc>
                <a:spcPct val="115000"/>
              </a:lnSpc>
              <a:buClr>
                <a:schemeClr val="dk1"/>
              </a:buClr>
              <a:buSzPts val="1900"/>
              <a:buFont typeface="Arial"/>
              <a:buChar char="➔"/>
            </a:pPr>
            <a:r>
              <a:rPr lang="pt-BR" sz="1600" b="1" dirty="0">
                <a:solidFill>
                  <a:schemeClr val="dk1"/>
                </a:solidFill>
              </a:rPr>
              <a:t>Aprimoramento da experiência do usuário</a:t>
            </a:r>
            <a:br>
              <a:rPr lang="pt-BR" sz="1600" b="1" dirty="0">
                <a:solidFill>
                  <a:schemeClr val="dk1"/>
                </a:solidFill>
              </a:rPr>
            </a:br>
            <a:r>
              <a:rPr lang="pt-BR" sz="1600" dirty="0">
                <a:solidFill>
                  <a:schemeClr val="dk1"/>
                </a:solidFill>
              </a:rPr>
              <a:t> Ajustar interface, narrativa, recompensas e feedback para aumentar o engajamento.</a:t>
            </a:r>
          </a:p>
        </p:txBody>
      </p:sp>
      <p:sp>
        <p:nvSpPr>
          <p:cNvPr id="3" name="Google Shape;447;p56">
            <a:extLst>
              <a:ext uri="{FF2B5EF4-FFF2-40B4-BE49-F238E27FC236}">
                <a16:creationId xmlns:a16="http://schemas.microsoft.com/office/drawing/2014/main" id="{479F2493-AE27-5021-0F78-F6DD44B95A36}"/>
              </a:ext>
            </a:extLst>
          </p:cNvPr>
          <p:cNvSpPr/>
          <p:nvPr/>
        </p:nvSpPr>
        <p:spPr>
          <a:xfrm>
            <a:off x="793790" y="664488"/>
            <a:ext cx="4961700" cy="6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359"/>
              </a:lnSpc>
              <a:spcBef>
                <a:spcPts val="0"/>
              </a:spcBef>
              <a:spcAft>
                <a:spcPts val="0"/>
              </a:spcAft>
              <a:buClr>
                <a:srgbClr val="201B18"/>
              </a:buClr>
              <a:buSzPts val="3900"/>
              <a:buFont typeface="Arial"/>
              <a:buNone/>
            </a:pPr>
            <a:r>
              <a:rPr lang="pt-BR" sz="3900" b="1" i="0" u="none" strike="noStrike" cap="none" noProof="0" dirty="0">
                <a:solidFill>
                  <a:schemeClr val="dk1"/>
                </a:solidFill>
              </a:rPr>
              <a:t>Trabalhos Futuros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57"/>
          <p:cNvSpPr txBox="1">
            <a:spLocks noGrp="1"/>
          </p:cNvSpPr>
          <p:nvPr>
            <p:ph type="title"/>
          </p:nvPr>
        </p:nvSpPr>
        <p:spPr>
          <a:xfrm>
            <a:off x="1005840" y="3319500"/>
            <a:ext cx="12618600" cy="15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pt-BR" b="1" noProof="0" dirty="0">
                <a:latin typeface="Arial"/>
                <a:ea typeface="Arial"/>
                <a:cs typeface="Arial"/>
                <a:sym typeface="Arial"/>
              </a:rPr>
              <a:t>MUITO OBRIGADO!</a:t>
            </a:r>
          </a:p>
        </p:txBody>
      </p:sp>
      <p:pic>
        <p:nvPicPr>
          <p:cNvPr id="454" name="Google Shape;454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98699" y="0"/>
            <a:ext cx="2031700" cy="203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Tema do 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973A6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906</Words>
  <Application>Microsoft Office PowerPoint</Application>
  <PresentationFormat>Personalizar</PresentationFormat>
  <Paragraphs>144</Paragraphs>
  <Slides>16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16</vt:i4>
      </vt:variant>
    </vt:vector>
  </HeadingPairs>
  <TitlesOfParts>
    <vt:vector size="22" baseType="lpstr">
      <vt:lpstr>Roboto</vt:lpstr>
      <vt:lpstr>Arial</vt:lpstr>
      <vt:lpstr>Calibri</vt:lpstr>
      <vt:lpstr>Play</vt:lpstr>
      <vt:lpstr>Simple Light</vt:lpstr>
      <vt:lpstr>Office Theme</vt:lpstr>
      <vt:lpstr>Apresentação do PowerPoint</vt:lpstr>
      <vt:lpstr>O problema no ensino de lógica de programação</vt:lpstr>
      <vt:lpstr>Apresentação do PowerPoint</vt:lpstr>
      <vt:lpstr>Apresentação do PowerPoint</vt:lpstr>
      <vt:lpstr>Apresentação do PowerPoint</vt:lpstr>
      <vt:lpstr>Desafios e limitações da proposta</vt:lpstr>
      <vt:lpstr>Apresentação do PowerPoint</vt:lpstr>
      <vt:lpstr>Apresentação do PowerPoint</vt:lpstr>
      <vt:lpstr>Apresentação do PowerPoint</vt:lpstr>
      <vt:lpstr>Apresentação do PowerPoint</vt:lpstr>
      <vt:lpstr>Comunicação e formato dos dados</vt:lpstr>
      <vt:lpstr>Dashboard do Digital Twin</vt:lpstr>
      <vt:lpstr>Fluxo de funcionamento do sistema Da entrada do usuário à adaptação dos desafios</vt:lpstr>
      <vt:lpstr>Apresentação do PowerPoint</vt:lpstr>
      <vt:lpstr>Apresentação do PowerPoint</vt:lpstr>
      <vt:lpstr>MUITO 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Vitor Fongaro</cp:lastModifiedBy>
  <cp:revision>19</cp:revision>
  <dcterms:modified xsi:type="dcterms:W3CDTF">2026-06-21T01:17:27Z</dcterms:modified>
</cp:coreProperties>
</file>