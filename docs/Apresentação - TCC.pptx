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  <p:sldMasterId id="2147483687" r:id="rId2"/>
  </p:sldMasterIdLst>
  <p:notesMasterIdLst>
    <p:notesMasterId r:id="rId18"/>
  </p:notesMasterIdLst>
  <p:sldIdLst>
    <p:sldId id="256" r:id="rId3"/>
    <p:sldId id="27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74" r:id="rId16"/>
    <p:sldId id="272" r:id="rId17"/>
  </p:sldIdLst>
  <p:sldSz cx="14630400" cy="8229600"/>
  <p:notesSz cx="8229600" cy="14630400"/>
  <p:embeddedFontLst>
    <p:embeddedFont>
      <p:font typeface="Play" panose="020B0604020202020204" charset="0"/>
      <p:regular r:id="rId19"/>
      <p:bold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4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371850" y="1097275"/>
            <a:ext cx="548665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08416131_0_221:notes"/>
          <p:cNvSpPr txBox="1">
            <a:spLocks noGrp="1"/>
          </p:cNvSpPr>
          <p:nvPr>
            <p:ph type="body" idx="1"/>
          </p:nvPr>
        </p:nvSpPr>
        <p:spPr>
          <a:xfrm>
            <a:off x="822960" y="7040880"/>
            <a:ext cx="6583800" cy="57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8" name="Google Shape;188;g3ae08416131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e08416131_0_124:notes"/>
          <p:cNvSpPr txBox="1">
            <a:spLocks noGrp="1"/>
          </p:cNvSpPr>
          <p:nvPr>
            <p:ph type="body" idx="1"/>
          </p:nvPr>
        </p:nvSpPr>
        <p:spPr>
          <a:xfrm>
            <a:off x="822960" y="7040880"/>
            <a:ext cx="6583800" cy="57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g3ae0841613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e0841613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ae08416131_0_19:notes"/>
          <p:cNvSpPr txBox="1">
            <a:spLocks noGrp="1"/>
          </p:cNvSpPr>
          <p:nvPr>
            <p:ph type="body" idx="1"/>
          </p:nvPr>
        </p:nvSpPr>
        <p:spPr>
          <a:xfrm>
            <a:off x="822960" y="7040880"/>
            <a:ext cx="6583800" cy="57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900"/>
          </a:p>
        </p:txBody>
      </p:sp>
      <p:sp>
        <p:nvSpPr>
          <p:cNvPr id="210" name="Google Shape;210;g3ae08416131_0_19:notes"/>
          <p:cNvSpPr txBox="1">
            <a:spLocks noGrp="1"/>
          </p:cNvSpPr>
          <p:nvPr>
            <p:ph type="sldNum" idx="12"/>
          </p:nvPr>
        </p:nvSpPr>
        <p:spPr>
          <a:xfrm>
            <a:off x="4661536" y="13896341"/>
            <a:ext cx="35661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fld id="{00000000-1234-1234-1234-123412341234}" type="slidenum">
              <a:rPr lang="en-US"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b9aec736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ab9aec736a_0_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ab9aec736a_0_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b9aec736a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ab9aec736a_0_664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b9aec736a_0_4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ab9aec736a_0_4320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b9aec736a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6" name="Google Shape;286;g3ab9aec736a_0_689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b9aec736a_0_1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3ab9aec736a_0_1214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b9aec736a_0_2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ab9aec736a_0_2948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b9aec736a_0_3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g3ab9aec736a_0_3185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e08416131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3ae08416131_0_419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ab9aec736a_0_3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ab9aec736a_0_3763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e08416131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g3ae08416131_0_317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e08416131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5" name="Google Shape;445;g3ae08416131_0_323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e0841613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g3ae08416131_0_328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9 master">
  <p:cSld name="Slide 19 mast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L="457200" lvl="0" indent="-412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2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body" idx="1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46275" tIns="146275" rIns="146275" bIns="146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1"/>
          <p:cNvSpPr txBox="1">
            <a:spLocks noGrp="1"/>
          </p:cNvSpPr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1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2"/>
          </p:nvPr>
        </p:nvSpPr>
        <p:spPr>
          <a:xfrm>
            <a:off x="7903200" y="1158520"/>
            <a:ext cx="6139200" cy="59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457200" lvl="0" indent="-4127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>
            <a:spLocks noGrp="1"/>
          </p:cNvSpPr>
          <p:nvPr>
            <p:ph type="title" hasCustomPrompt="1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L="457200" lvl="0" indent="-4127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marL="914400" lvl="1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62178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body" idx="2"/>
          </p:nvPr>
        </p:nvSpPr>
        <p:spPr>
          <a:xfrm>
            <a:off x="7406640" y="2190750"/>
            <a:ext cx="62178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1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>
            <a:spLocks noGrp="1"/>
          </p:cNvSpPr>
          <p:nvPr>
            <p:ph type="title"/>
          </p:nvPr>
        </p:nvSpPr>
        <p:spPr>
          <a:xfrm>
            <a:off x="1007746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body" idx="1"/>
          </p:nvPr>
        </p:nvSpPr>
        <p:spPr>
          <a:xfrm>
            <a:off x="1007746" y="2017396"/>
            <a:ext cx="61893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body" idx="2"/>
          </p:nvPr>
        </p:nvSpPr>
        <p:spPr>
          <a:xfrm>
            <a:off x="1007746" y="3006090"/>
            <a:ext cx="61893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32"/>
          <p:cNvSpPr txBox="1">
            <a:spLocks noGrp="1"/>
          </p:cNvSpPr>
          <p:nvPr>
            <p:ph type="body" idx="3"/>
          </p:nvPr>
        </p:nvSpPr>
        <p:spPr>
          <a:xfrm>
            <a:off x="7406640" y="2017396"/>
            <a:ext cx="6219900" cy="9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 b="1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 b="1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body" idx="4"/>
          </p:nvPr>
        </p:nvSpPr>
        <p:spPr>
          <a:xfrm>
            <a:off x="7406640" y="3006090"/>
            <a:ext cx="6219900" cy="44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2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3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4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5"/>
          <p:cNvSpPr txBox="1">
            <a:spLocks noGrp="1"/>
          </p:cNvSpPr>
          <p:nvPr>
            <p:ph type="title"/>
          </p:nvPr>
        </p:nvSpPr>
        <p:spPr>
          <a:xfrm>
            <a:off x="1007746" y="548640"/>
            <a:ext cx="47187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Play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5"/>
          <p:cNvSpPr txBox="1">
            <a:spLocks noGrp="1"/>
          </p:cNvSpPr>
          <p:nvPr>
            <p:ph type="body" idx="1"/>
          </p:nvPr>
        </p:nvSpPr>
        <p:spPr>
          <a:xfrm>
            <a:off x="6219826" y="1184910"/>
            <a:ext cx="7406700" cy="58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69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800"/>
              <a:buChar char="•"/>
              <a:defRPr sz="3800"/>
            </a:lvl1pPr>
            <a:lvl2pPr marL="914400" lvl="1" indent="-4445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400"/>
              <a:buChar char="•"/>
              <a:defRPr sz="3400"/>
            </a:lvl2pPr>
            <a:lvl3pPr marL="1371600" lvl="2" indent="-41275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  <a:defRPr sz="2900"/>
            </a:lvl3pPr>
            <a:lvl4pPr marL="1828800" lvl="3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marL="3200400" lvl="6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marL="3657600" lvl="7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marL="4114800" lvl="8" indent="-381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body" idx="2"/>
          </p:nvPr>
        </p:nvSpPr>
        <p:spPr>
          <a:xfrm>
            <a:off x="1007746" y="2468880"/>
            <a:ext cx="47187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6" name="Google Shape;156;p35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5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5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6"/>
          <p:cNvSpPr txBox="1">
            <a:spLocks noGrp="1"/>
          </p:cNvSpPr>
          <p:nvPr>
            <p:ph type="title"/>
          </p:nvPr>
        </p:nvSpPr>
        <p:spPr>
          <a:xfrm>
            <a:off x="1007746" y="548640"/>
            <a:ext cx="47187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Play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6"/>
          <p:cNvSpPr>
            <a:spLocks noGrp="1"/>
          </p:cNvSpPr>
          <p:nvPr>
            <p:ph type="pic" idx="2"/>
          </p:nvPr>
        </p:nvSpPr>
        <p:spPr>
          <a:xfrm>
            <a:off x="6219826" y="1184910"/>
            <a:ext cx="7406700" cy="5848500"/>
          </a:xfrm>
          <a:prstGeom prst="rect">
            <a:avLst/>
          </a:prstGeom>
          <a:noFill/>
          <a:ln>
            <a:noFill/>
          </a:ln>
        </p:spPr>
      </p:sp>
      <p:sp>
        <p:nvSpPr>
          <p:cNvPr id="162" name="Google Shape;162;p36"/>
          <p:cNvSpPr txBox="1">
            <a:spLocks noGrp="1"/>
          </p:cNvSpPr>
          <p:nvPr>
            <p:ph type="body" idx="1"/>
          </p:nvPr>
        </p:nvSpPr>
        <p:spPr>
          <a:xfrm>
            <a:off x="1007746" y="2468880"/>
            <a:ext cx="4718700" cy="4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marL="1371600" lvl="2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3" name="Google Shape;163;p36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6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6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7"/>
          <p:cNvSpPr txBox="1">
            <a:spLocks noGrp="1"/>
          </p:cNvSpPr>
          <p:nvPr>
            <p:ph type="body" idx="1"/>
          </p:nvPr>
        </p:nvSpPr>
        <p:spPr>
          <a:xfrm rot="5400000">
            <a:off x="4704510" y="-1507800"/>
            <a:ext cx="5221500" cy="12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37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7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7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>
            <a:spLocks noGrp="1"/>
          </p:cNvSpPr>
          <p:nvPr>
            <p:ph type="title"/>
          </p:nvPr>
        </p:nvSpPr>
        <p:spPr>
          <a:xfrm rot="5400000">
            <a:off x="8560110" y="2347800"/>
            <a:ext cx="6974100" cy="31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body" idx="1"/>
          </p:nvPr>
        </p:nvSpPr>
        <p:spPr>
          <a:xfrm rot="5400000">
            <a:off x="2159400" y="-715350"/>
            <a:ext cx="6974100" cy="9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8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3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9 master">
  <p:cSld name="Slide 19 master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4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460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t" anchorCtr="0">
            <a:normAutofit/>
          </a:bodyPr>
          <a:lstStyle>
            <a:lvl1pPr marL="457200" marR="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Font typeface="Arial"/>
              <a:buChar char="●"/>
              <a:defRPr sz="2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○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■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275" tIns="146275" rIns="146275" bIns="1462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Play"/>
              <a:buNone/>
              <a:defRPr sz="5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marR="0" lvl="0" indent="-4445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275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  <a:defRPr sz="2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1"/>
          <p:cNvSpPr/>
          <p:nvPr/>
        </p:nvSpPr>
        <p:spPr>
          <a:xfrm>
            <a:off x="5500987" y="1926786"/>
            <a:ext cx="8655000" cy="18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47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Arial"/>
              <a:buNone/>
            </a:pPr>
            <a:r>
              <a:rPr lang="pt-BR" sz="2800" b="1" i="0" u="none" strike="noStrike" cap="none" noProof="0" dirty="0">
                <a:solidFill>
                  <a:srgbClr val="201B18"/>
                </a:solidFill>
                <a:latin typeface="Arial"/>
                <a:ea typeface="Arial"/>
                <a:cs typeface="Arial"/>
                <a:sym typeface="Arial"/>
              </a:rPr>
              <a:t>IMPLEMENTAÇÃO DE UM GERADOR AUTOMÁTICO DE DESAFIOS DE ALGORITMOS UTILIZANDO IA GENERATIVA E ELEMENTOS DE GAMIFICAÇÃO</a:t>
            </a:r>
            <a:endParaRPr lang="pt-BR" sz="280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1"/>
          <p:cNvSpPr/>
          <p:nvPr/>
        </p:nvSpPr>
        <p:spPr>
          <a:xfrm>
            <a:off x="5500975" y="4494135"/>
            <a:ext cx="9058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850" b="1" i="0" u="none" strike="noStrike" cap="none" noProof="0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Alunos : </a:t>
            </a:r>
            <a:r>
              <a:rPr lang="pt-BR" sz="1850" b="1" noProof="0" dirty="0">
                <a:solidFill>
                  <a:srgbClr val="504C49"/>
                </a:solidFill>
              </a:rPr>
              <a:t>Ryan Ramos da Silva e Vitor Augusto Silva Fongaro</a:t>
            </a: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1"/>
          <p:cNvSpPr/>
          <p:nvPr/>
        </p:nvSpPr>
        <p:spPr>
          <a:xfrm>
            <a:off x="5500975" y="5034918"/>
            <a:ext cx="9058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850" b="1" i="0" u="none" strike="noStrike" cap="none" noProof="0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Orientador : Prof. Dr. João Luís Cardoso de Moraes</a:t>
            </a: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1"/>
          <p:cNvSpPr/>
          <p:nvPr/>
        </p:nvSpPr>
        <p:spPr>
          <a:xfrm>
            <a:off x="5500975" y="5575700"/>
            <a:ext cx="90582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850" b="1" i="0" u="none" strike="noStrike" cap="none" noProof="0" dirty="0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Centro Universitário de Lins - UNILINS</a:t>
            </a: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41" descr="UNILINS - Kit Mídia Unili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9955" y="342450"/>
            <a:ext cx="3113069" cy="1269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850F223-11FF-F711-0CCA-CD49F88F5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334978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2"/>
          <p:cNvSpPr txBox="1">
            <a:spLocks noGrp="1"/>
          </p:cNvSpPr>
          <p:nvPr>
            <p:ph type="title"/>
          </p:nvPr>
        </p:nvSpPr>
        <p:spPr>
          <a:xfrm>
            <a:off x="5903824" y="315583"/>
            <a:ext cx="8463689" cy="1867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50"/>
              <a:buFont typeface="Play"/>
              <a:buNone/>
            </a:pPr>
            <a:r>
              <a:rPr lang="pt-BR" sz="2500" b="1" noProof="0" dirty="0">
                <a:solidFill>
                  <a:srgbClr val="000000"/>
                </a:solidFill>
                <a:latin typeface="Arial"/>
              </a:rPr>
              <a:t>O problema no ensino de lógica de programação</a:t>
            </a:r>
            <a:endParaRPr lang="pt-BR" sz="4720" b="1" noProof="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42"/>
          <p:cNvGrpSpPr/>
          <p:nvPr/>
        </p:nvGrpSpPr>
        <p:grpSpPr>
          <a:xfrm>
            <a:off x="5903825" y="3483131"/>
            <a:ext cx="8463688" cy="1832775"/>
            <a:chOff x="-132366" y="810114"/>
            <a:chExt cx="7053073" cy="918132"/>
          </a:xfrm>
        </p:grpSpPr>
        <p:sp>
          <p:nvSpPr>
            <p:cNvPr id="204" name="Google Shape;204;p42"/>
            <p:cNvSpPr txBox="1"/>
            <p:nvPr/>
          </p:nvSpPr>
          <p:spPr>
            <a:xfrm>
              <a:off x="-132366" y="821646"/>
              <a:ext cx="1962000" cy="906600"/>
            </a:xfrm>
            <a:prstGeom prst="rect">
              <a:avLst/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45725" tIns="30475" rIns="45725" bIns="30475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pt-BR" sz="1200" b="1" noProof="0" dirty="0">
                  <a:solidFill>
                    <a:srgbClr val="FFFFFF"/>
                  </a:solidFill>
                  <a:latin typeface="Arial"/>
                </a:rPr>
                <a:t>Dificuldade com</a:t>
              </a:r>
              <a:endParaRPr lang="pt-BR" sz="1600" b="1" i="0" u="none" strike="noStrike" cap="none" noProof="0" dirty="0">
                <a:solidFill>
                  <a:srgbClr val="000000"/>
                </a:solidFill>
              </a:endParaRPr>
            </a:p>
            <a:p>
              <a:pPr algn="ctr"/>
              <a:r>
                <a:rPr lang="pt-BR" sz="1200" b="1" noProof="0" dirty="0">
                  <a:solidFill>
                    <a:srgbClr val="FFFFFF"/>
                  </a:solidFill>
                  <a:latin typeface="Arial"/>
                </a:rPr>
                <a:t>conceitos abstratos</a:t>
              </a:r>
            </a:p>
          </p:txBody>
        </p:sp>
        <p:sp>
          <p:nvSpPr>
            <p:cNvPr id="205" name="Google Shape;205;p42"/>
            <p:cNvSpPr txBox="1"/>
            <p:nvPr/>
          </p:nvSpPr>
          <p:spPr>
            <a:xfrm>
              <a:off x="2393984" y="810114"/>
              <a:ext cx="1962000" cy="906600"/>
            </a:xfrm>
            <a:prstGeom prst="rect">
              <a:avLst/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41125" tIns="27425" rIns="41125" bIns="27425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Arial"/>
                <a:buNone/>
              </a:pPr>
              <a:r>
                <a:rPr lang="pt-BR" sz="1200" b="1" noProof="0" dirty="0">
                  <a:solidFill>
                    <a:srgbClr val="FFFFFF"/>
                  </a:solidFill>
                  <a:latin typeface="Arial"/>
                </a:rPr>
                <a:t>Exercícios estáticos</a:t>
              </a:r>
              <a:endParaRPr lang="pt-BR" sz="1600" b="1" i="0" u="none" strike="noStrike" cap="none" noProof="0" dirty="0">
                <a:solidFill>
                  <a:srgbClr val="000000"/>
                </a:solidFill>
              </a:endParaRPr>
            </a:p>
            <a:p>
              <a:pPr algn="ctr"/>
              <a:r>
                <a:rPr lang="pt-BR" sz="1200" b="1" noProof="0" dirty="0">
                  <a:solidFill>
                    <a:srgbClr val="FFFFFF"/>
                  </a:solidFill>
                  <a:latin typeface="Arial"/>
                </a:rPr>
                <a:t>e pouco adaptáveis</a:t>
              </a:r>
            </a:p>
          </p:txBody>
        </p:sp>
        <p:sp>
          <p:nvSpPr>
            <p:cNvPr id="206" name="Google Shape;206;p42"/>
            <p:cNvSpPr txBox="1"/>
            <p:nvPr/>
          </p:nvSpPr>
          <p:spPr>
            <a:xfrm>
              <a:off x="4958708" y="810114"/>
              <a:ext cx="1962000" cy="906600"/>
            </a:xfrm>
            <a:prstGeom prst="rect">
              <a:avLst/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45725" tIns="30475" rIns="45725" bIns="30475" anchor="ctr" anchorCtr="0">
              <a:norm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pt-BR" sz="1200" b="1" noProof="0" dirty="0">
                  <a:solidFill>
                    <a:srgbClr val="FFFFFF"/>
                  </a:solidFill>
                  <a:latin typeface="Arial"/>
                </a:rPr>
                <a:t>Baixo engajamento</a:t>
              </a:r>
              <a:endParaRPr lang="pt-BR" sz="1600" b="1" i="0" u="none" strike="noStrike" cap="none" noProof="0" dirty="0">
                <a:solidFill>
                  <a:srgbClr val="000000"/>
                </a:solidFill>
              </a:endParaRPr>
            </a:p>
            <a:p>
              <a:pPr algn="ctr"/>
              <a:r>
                <a:rPr lang="pt-BR" sz="1200" b="1" noProof="0" dirty="0">
                  <a:solidFill>
                    <a:srgbClr val="FFFFFF"/>
                  </a:solidFill>
                  <a:latin typeface="Arial"/>
                </a:rPr>
                <a:t>e motivação</a:t>
              </a:r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3508F066-1C5D-D76E-7214-BF9964188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2064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211"/>
          <p:cNvSpPr txBox="1"/>
          <p:nvPr/>
        </p:nvSpPr>
        <p:spPr>
          <a:xfrm>
            <a:off x="0" y="1055216"/>
            <a:ext cx="14630399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3000" b="1" noProof="0" dirty="0">
                <a:solidFill>
                  <a:srgbClr val="000000"/>
                </a:solidFill>
                <a:latin typeface="Arial"/>
              </a:rPr>
              <a:t>Motivação do Trabalho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3503979" y="3182107"/>
            <a:ext cx="7772400" cy="658368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4" name="TextBox 213"/>
          <p:cNvSpPr txBox="1"/>
          <p:nvPr/>
        </p:nvSpPr>
        <p:spPr>
          <a:xfrm>
            <a:off x="3686859" y="3319267"/>
            <a:ext cx="740664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600" b="1" noProof="0" dirty="0">
                <a:solidFill>
                  <a:srgbClr val="FFFFFF"/>
                </a:solidFill>
                <a:latin typeface="Arial"/>
              </a:rPr>
              <a:t>Tornar o aprendizado de algoritmos mais interativo e prático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3503979" y="4301337"/>
            <a:ext cx="7772400" cy="658368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8" name="TextBox 217"/>
          <p:cNvSpPr txBox="1"/>
          <p:nvPr/>
        </p:nvSpPr>
        <p:spPr>
          <a:xfrm>
            <a:off x="3686859" y="4438497"/>
            <a:ext cx="740664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600" b="1" noProof="0" dirty="0">
                <a:solidFill>
                  <a:srgbClr val="FFFFFF"/>
                </a:solidFill>
                <a:latin typeface="Arial"/>
              </a:rPr>
              <a:t>Personalizar desafios conforme o desempenho do estudante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3503979" y="5325465"/>
            <a:ext cx="7772400" cy="658368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0" name="TextBox 219"/>
          <p:cNvSpPr txBox="1"/>
          <p:nvPr/>
        </p:nvSpPr>
        <p:spPr>
          <a:xfrm>
            <a:off x="3686859" y="5462625"/>
            <a:ext cx="7406640" cy="32004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600" b="1" noProof="0" dirty="0">
                <a:solidFill>
                  <a:srgbClr val="FFFFFF"/>
                </a:solidFill>
                <a:latin typeface="Arial"/>
              </a:rPr>
              <a:t>Usar gamificação para aumentar motivação e persistência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/>
          <p:nvPr/>
        </p:nvSpPr>
        <p:spPr>
          <a:xfrm>
            <a:off x="1647750" y="1709142"/>
            <a:ext cx="113349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00"/>
              <a:buFont typeface="Arial"/>
              <a:buNone/>
            </a:pPr>
            <a:r>
              <a:rPr lang="pt-BR" sz="2600" b="1" noProof="0" dirty="0">
                <a:solidFill>
                  <a:srgbClr val="000000"/>
                </a:solidFill>
                <a:latin typeface="Arial"/>
              </a:rPr>
              <a:t>O que é IA Generativa aplicada ao ensino?</a:t>
            </a:r>
            <a:endParaRPr lang="pt-BR" sz="3900" b="1" i="0" u="none" strike="noStrike" cap="none" noProof="0" dirty="0">
              <a:solidFill>
                <a:schemeClr val="dk1"/>
              </a:solidFill>
            </a:endParaRPr>
          </a:p>
        </p:txBody>
      </p:sp>
      <p:sp>
        <p:nvSpPr>
          <p:cNvPr id="230" name="Google Shape;230;p44"/>
          <p:cNvSpPr/>
          <p:nvPr/>
        </p:nvSpPr>
        <p:spPr>
          <a:xfrm>
            <a:off x="793790" y="2726055"/>
            <a:ext cx="130428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400" noProof="0" dirty="0">
                <a:solidFill>
                  <a:srgbClr val="5A5A5A"/>
                </a:solidFill>
                <a:latin typeface="Arial"/>
              </a:rPr>
              <a:t>Tecnologia capaz de gerar conteúdos educacionais automaticamente a partir de instruções, dados e contexto.</a:t>
            </a:r>
            <a:endParaRPr lang="pt-BR" sz="2050" b="0" i="0" u="none" strike="noStrike" cap="none" noProof="0" dirty="0">
              <a:solidFill>
                <a:srgbClr val="504C4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pt-BR" sz="1400" noProof="0" dirty="0">
                <a:solidFill>
                  <a:srgbClr val="5A5A5A"/>
                </a:solidFill>
                <a:latin typeface="Arial"/>
              </a:rPr>
              <a:t>No projeto, ela apoia a criação de desafios de algoritmos personalizados.</a:t>
            </a:r>
          </a:p>
        </p:txBody>
      </p:sp>
      <p:sp>
        <p:nvSpPr>
          <p:cNvPr id="231" name="Google Shape;231;p44"/>
          <p:cNvSpPr/>
          <p:nvPr/>
        </p:nvSpPr>
        <p:spPr>
          <a:xfrm>
            <a:off x="1438632" y="4828461"/>
            <a:ext cx="35373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2972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500" b="1" noProof="0" dirty="0">
                <a:solidFill>
                  <a:srgbClr val="000000"/>
                </a:solidFill>
                <a:latin typeface="Arial"/>
              </a:rPr>
              <a:t>Geração de Desafios</a:t>
            </a:r>
            <a:endParaRPr lang="pt-BR" sz="185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4"/>
          <p:cNvSpPr/>
          <p:nvPr/>
        </p:nvSpPr>
        <p:spPr>
          <a:xfrm>
            <a:off x="1438631" y="5281086"/>
            <a:ext cx="35373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200" b="0" noProof="0" dirty="0">
                <a:solidFill>
                  <a:srgbClr val="000000"/>
                </a:solidFill>
                <a:latin typeface="Arial"/>
              </a:rPr>
              <a:t>Criação automática de exercícios de lógica conforme o nível do estudante.</a:t>
            </a: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4"/>
          <p:cNvSpPr/>
          <p:nvPr/>
        </p:nvSpPr>
        <p:spPr>
          <a:xfrm>
            <a:off x="9721375" y="4828450"/>
            <a:ext cx="37413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500" b="1" noProof="0" dirty="0">
                <a:solidFill>
                  <a:srgbClr val="000000"/>
                </a:solidFill>
                <a:latin typeface="Arial"/>
              </a:rPr>
              <a:t>Feedback e Apoio</a:t>
            </a:r>
            <a:endParaRPr lang="pt-BR" sz="195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4"/>
          <p:cNvSpPr/>
          <p:nvPr/>
        </p:nvSpPr>
        <p:spPr>
          <a:xfrm>
            <a:off x="9721379" y="5257681"/>
            <a:ext cx="3537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200" b="0" noProof="0" dirty="0">
                <a:solidFill>
                  <a:srgbClr val="000000"/>
                </a:solidFill>
                <a:latin typeface="Arial"/>
              </a:rPr>
              <a:t>Possibilidade de sugerir ajustes, explicar erros e orientar novas tentativas.</a:t>
            </a: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4"/>
          <p:cNvSpPr/>
          <p:nvPr/>
        </p:nvSpPr>
        <p:spPr>
          <a:xfrm>
            <a:off x="5350952" y="4828450"/>
            <a:ext cx="39954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500" b="1" noProof="0" dirty="0">
                <a:solidFill>
                  <a:srgbClr val="000000"/>
                </a:solidFill>
                <a:latin typeface="Arial"/>
              </a:rPr>
              <a:t>Personalização</a:t>
            </a:r>
            <a:endParaRPr lang="pt-BR" sz="195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4"/>
          <p:cNvSpPr/>
          <p:nvPr/>
        </p:nvSpPr>
        <p:spPr>
          <a:xfrm>
            <a:off x="5350944" y="5343731"/>
            <a:ext cx="3537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200" b="0" noProof="0" dirty="0">
                <a:solidFill>
                  <a:srgbClr val="000000"/>
                </a:solidFill>
                <a:latin typeface="Arial"/>
              </a:rPr>
              <a:t>Uso do desempenho do usuário para ajustar dificuldade e conteúdos.</a:t>
            </a: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44" title="Sem títul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66200" y="7745592"/>
            <a:ext cx="1864200" cy="5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56">
            <a:extLst>
              <a:ext uri="{FF2B5EF4-FFF2-40B4-BE49-F238E27FC236}">
                <a16:creationId xmlns:a16="http://schemas.microsoft.com/office/drawing/2014/main" id="{3F0DFEA9-E0D8-E807-1AA9-0968A29C3313}"/>
              </a:ext>
            </a:extLst>
          </p:cNvPr>
          <p:cNvSpPr/>
          <p:nvPr/>
        </p:nvSpPr>
        <p:spPr>
          <a:xfrm>
            <a:off x="8879787" y="1311197"/>
            <a:ext cx="3538634" cy="2060638"/>
          </a:xfrm>
          <a:prstGeom prst="roundRect">
            <a:avLst/>
          </a:prstGeom>
          <a:solidFill>
            <a:srgbClr val="F8FAFF"/>
          </a:solidFill>
          <a:ln>
            <a:solidFill>
              <a:srgbClr val="D7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242" name="Google Shape;242;p45"/>
          <p:cNvSpPr/>
          <p:nvPr/>
        </p:nvSpPr>
        <p:spPr>
          <a:xfrm>
            <a:off x="4668600" y="391950"/>
            <a:ext cx="5293200" cy="7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600"/>
              <a:buFont typeface="Arial"/>
              <a:buNone/>
            </a:pPr>
            <a:r>
              <a:rPr lang="pt-BR" sz="2800" b="1" noProof="0" dirty="0">
                <a:solidFill>
                  <a:srgbClr val="000000"/>
                </a:solidFill>
                <a:latin typeface="Arial"/>
              </a:rPr>
              <a:t>Trabalhos relacionados</a:t>
            </a:r>
            <a:endParaRPr lang="pt-BR" sz="3600" b="1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5"/>
          <p:cNvSpPr/>
          <p:nvPr/>
        </p:nvSpPr>
        <p:spPr>
          <a:xfrm>
            <a:off x="1769211" y="1739212"/>
            <a:ext cx="31404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54"/>
              <a:buFont typeface="Arial"/>
              <a:buNone/>
            </a:pPr>
            <a:r>
              <a:rPr lang="pt-BR" sz="1400" b="1" noProof="0" dirty="0">
                <a:solidFill>
                  <a:srgbClr val="000000"/>
                </a:solidFill>
                <a:latin typeface="Arial"/>
              </a:rPr>
              <a:t>Scratch</a:t>
            </a:r>
            <a:endParaRPr lang="pt-BR" sz="2453" b="1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5"/>
          <p:cNvSpPr/>
          <p:nvPr/>
        </p:nvSpPr>
        <p:spPr>
          <a:xfrm>
            <a:off x="1769207" y="2237089"/>
            <a:ext cx="119613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328"/>
              <a:buFont typeface="Arial"/>
              <a:buNone/>
            </a:pPr>
            <a:r>
              <a:rPr lang="pt-BR" sz="1200" b="0" noProof="0" dirty="0">
                <a:solidFill>
                  <a:srgbClr val="000000"/>
                </a:solidFill>
                <a:latin typeface="Arial"/>
              </a:rPr>
              <a:t>Programação visual por blocos para iniciantes, com foco na construção de algoritmos.</a:t>
            </a:r>
            <a:endParaRPr lang="pt-BR" sz="2328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5"/>
          <p:cNvSpPr/>
          <p:nvPr/>
        </p:nvSpPr>
        <p:spPr>
          <a:xfrm>
            <a:off x="1769211" y="4907156"/>
            <a:ext cx="31404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54"/>
              <a:buFont typeface="Arial"/>
              <a:buNone/>
            </a:pPr>
            <a:r>
              <a:rPr lang="pt-BR" sz="1400" b="1" noProof="0" dirty="0" err="1">
                <a:solidFill>
                  <a:srgbClr val="000000"/>
                </a:solidFill>
                <a:latin typeface="Arial"/>
              </a:rPr>
              <a:t>Learn</a:t>
            </a:r>
            <a:r>
              <a:rPr lang="pt-BR" sz="1400" b="1" noProof="0" dirty="0">
                <a:solidFill>
                  <a:srgbClr val="000000"/>
                </a:solidFill>
                <a:latin typeface="Arial"/>
              </a:rPr>
              <a:t> </a:t>
            </a:r>
            <a:r>
              <a:rPr lang="pt-BR" sz="1400" b="1" noProof="0" dirty="0" err="1">
                <a:solidFill>
                  <a:srgbClr val="000000"/>
                </a:solidFill>
                <a:latin typeface="Arial"/>
              </a:rPr>
              <a:t>GDScript</a:t>
            </a:r>
            <a:endParaRPr lang="pt-BR" sz="2453" b="1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5"/>
          <p:cNvSpPr/>
          <p:nvPr/>
        </p:nvSpPr>
        <p:spPr>
          <a:xfrm>
            <a:off x="1769211" y="5405027"/>
            <a:ext cx="9601800" cy="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328"/>
              <a:buFont typeface="Arial"/>
              <a:buNone/>
            </a:pPr>
            <a:r>
              <a:rPr lang="pt-BR" sz="1200" b="0" noProof="0" dirty="0">
                <a:solidFill>
                  <a:srgbClr val="000000"/>
                </a:solidFill>
                <a:latin typeface="Arial"/>
              </a:rPr>
              <a:t>Ferramenta interativa com exercícios progressivos para ensino de programação textual.</a:t>
            </a:r>
            <a:endParaRPr lang="pt-BR" sz="2328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500" y="1596954"/>
            <a:ext cx="702903" cy="644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500" y="4764894"/>
            <a:ext cx="702903" cy="644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Picture 255" descr="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04" y="1427116"/>
            <a:ext cx="3200400" cy="1828800"/>
          </a:xfrm>
          <a:prstGeom prst="rect">
            <a:avLst/>
          </a:prstGeom>
        </p:spPr>
      </p:pic>
      <p:sp>
        <p:nvSpPr>
          <p:cNvPr id="257" name="Rounded Rectangle 256"/>
          <p:cNvSpPr/>
          <p:nvPr/>
        </p:nvSpPr>
        <p:spPr>
          <a:xfrm>
            <a:off x="8879787" y="4203702"/>
            <a:ext cx="3538634" cy="2060638"/>
          </a:xfrm>
          <a:prstGeom prst="roundRect">
            <a:avLst/>
          </a:prstGeom>
          <a:solidFill>
            <a:srgbClr val="F8FAFF"/>
          </a:solidFill>
          <a:ln>
            <a:solidFill>
              <a:srgbClr val="D7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pic>
        <p:nvPicPr>
          <p:cNvPr id="258" name="Picture 257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904" y="4319621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>
            <a:spLocks noGrp="1"/>
          </p:cNvSpPr>
          <p:nvPr>
            <p:ph type="title"/>
          </p:nvPr>
        </p:nvSpPr>
        <p:spPr>
          <a:xfrm>
            <a:off x="5519" y="444416"/>
            <a:ext cx="146304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/>
          <a:p>
            <a:pPr marL="0" lvl="0" indent="0" algn="ctr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00"/>
              <a:buFont typeface="Arial"/>
              <a:buNone/>
            </a:pPr>
            <a:r>
              <a:rPr lang="pt-BR" sz="2700" b="1" noProof="0" dirty="0">
                <a:solidFill>
                  <a:srgbClr val="000000"/>
                </a:solidFill>
                <a:latin typeface="Arial"/>
              </a:rPr>
              <a:t>Desafios e limitações da proposta</a:t>
            </a:r>
            <a:endParaRPr lang="pt-BR" sz="3900" b="1" noProof="0" dirty="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46"/>
          <p:cNvGrpSpPr/>
          <p:nvPr/>
        </p:nvGrpSpPr>
        <p:grpSpPr>
          <a:xfrm>
            <a:off x="9660840" y="4498507"/>
            <a:ext cx="4426655" cy="2215200"/>
            <a:chOff x="6038025" y="2598928"/>
            <a:chExt cx="2766659" cy="1384500"/>
          </a:xfrm>
        </p:grpSpPr>
        <p:cxnSp>
          <p:nvCxnSpPr>
            <p:cNvPr id="261" name="Google Shape;261;p46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2" name="Google Shape;262;p46"/>
            <p:cNvSpPr txBox="1"/>
            <p:nvPr/>
          </p:nvSpPr>
          <p:spPr>
            <a:xfrm>
              <a:off x="6640484" y="2598928"/>
              <a:ext cx="2164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Complexidade técnica</a:t>
              </a:r>
              <a:endParaRPr lang="pt-BR" sz="2200" b="1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/>
              <a:endParaRPr lang="pt-BR" sz="2200" b="1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/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Integração entre jogo, </a:t>
              </a:r>
              <a:r>
                <a:rPr lang="pt-BR" sz="1200" noProof="0" dirty="0" err="1">
                  <a:solidFill>
                    <a:srgbClr val="000000"/>
                  </a:solidFill>
                  <a:latin typeface="Arial"/>
                </a:rPr>
                <a:t>backend</a:t>
              </a: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, banco de dados e API de IA.</a:t>
              </a:r>
            </a:p>
          </p:txBody>
        </p:sp>
        <p:sp>
          <p:nvSpPr>
            <p:cNvPr id="263" name="Google Shape;263;p46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 fontScale="25000" lnSpcReduction="20000"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6"/>
            <p:cNvSpPr txBox="1"/>
            <p:nvPr/>
          </p:nvSpPr>
          <p:spPr>
            <a:xfrm>
              <a:off x="6399017" y="3156109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rmAutofit fontScale="25000" lnSpcReduction="20000"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6400" b="0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lang="pt-BR" sz="1300" b="0" i="0" u="none" strike="noStrike" cap="none" noProof="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5" name="Google Shape;265;p46"/>
          <p:cNvGrpSpPr/>
          <p:nvPr/>
        </p:nvGrpSpPr>
        <p:grpSpPr>
          <a:xfrm>
            <a:off x="1018113" y="3262532"/>
            <a:ext cx="4791567" cy="2215200"/>
            <a:chOff x="636321" y="1844098"/>
            <a:chExt cx="2994729" cy="1384500"/>
          </a:xfrm>
        </p:grpSpPr>
        <p:sp>
          <p:nvSpPr>
            <p:cNvPr id="266" name="Google Shape;266;p46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Heterogeneidade dos alunos</a:t>
              </a:r>
              <a:endParaRPr lang="pt-BR" sz="2200" b="1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/>
              <a:endParaRPr lang="pt-BR" sz="2200" b="1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/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Diferentes ritmos, conhecimentos prévios e dificuldades individuais.</a:t>
              </a:r>
            </a:p>
          </p:txBody>
        </p:sp>
        <p:cxnSp>
          <p:nvCxnSpPr>
            <p:cNvPr id="267" name="Google Shape;267;p46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8" name="Google Shape;268;p46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 fontScale="25000" lnSpcReduction="20000"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6"/>
            <p:cNvSpPr txBox="1"/>
            <p:nvPr/>
          </p:nvSpPr>
          <p:spPr>
            <a:xfrm>
              <a:off x="2498491" y="2360043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600" b="0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</a:p>
          </p:txBody>
        </p:sp>
      </p:grpSp>
      <p:grpSp>
        <p:nvGrpSpPr>
          <p:cNvPr id="270" name="Google Shape;270;p46"/>
          <p:cNvGrpSpPr/>
          <p:nvPr/>
        </p:nvGrpSpPr>
        <p:grpSpPr>
          <a:xfrm>
            <a:off x="7852960" y="1820639"/>
            <a:ext cx="5759338" cy="2215200"/>
            <a:chOff x="4908100" y="889950"/>
            <a:chExt cx="3599586" cy="1384500"/>
          </a:xfrm>
        </p:grpSpPr>
        <p:cxnSp>
          <p:nvCxnSpPr>
            <p:cNvPr id="271" name="Google Shape;271;p46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2" name="Google Shape;272;p46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2307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50"/>
                <a:buFont typeface="Arial"/>
                <a:buNone/>
              </a:pP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Conteúdo gerado por IA</a:t>
              </a:r>
              <a:endParaRPr lang="pt-BR" sz="220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/>
              <a:endParaRPr lang="pt-BR" sz="220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algn="l"/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Necessidade de validar qualidade, precisão e adequação pedagógica.</a:t>
              </a:r>
            </a:p>
          </p:txBody>
        </p:sp>
        <p:sp>
          <p:nvSpPr>
            <p:cNvPr id="273" name="Google Shape;273;p46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 fontScale="25000" lnSpcReduction="20000"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6"/>
            <p:cNvSpPr txBox="1"/>
            <p:nvPr/>
          </p:nvSpPr>
          <p:spPr>
            <a:xfrm>
              <a:off x="6402820" y="1427646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600" b="0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</a:p>
          </p:txBody>
        </p:sp>
      </p:grpSp>
      <p:grpSp>
        <p:nvGrpSpPr>
          <p:cNvPr id="275" name="Google Shape;275;p46"/>
          <p:cNvGrpSpPr/>
          <p:nvPr/>
        </p:nvGrpSpPr>
        <p:grpSpPr>
          <a:xfrm>
            <a:off x="4503351" y="2102562"/>
            <a:ext cx="5623698" cy="5203202"/>
            <a:chOff x="2991269" y="1153325"/>
            <a:chExt cx="3514811" cy="3252002"/>
          </a:xfrm>
        </p:grpSpPr>
        <p:sp>
          <p:nvSpPr>
            <p:cNvPr id="276" name="Google Shape;276;p46"/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77" name="Google Shape;277;p46"/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0942A1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78" name="Google Shape;278;p46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307AF3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79" name="Google Shape;279;p46"/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80" name="Google Shape;280;p46"/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942A1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81" name="Google Shape;281;p46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D5CDF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82" name="Google Shape;282;p46"/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942A1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  <p:sp>
          <p:nvSpPr>
            <p:cNvPr id="283" name="Google Shape;283;p46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C57D3"/>
            </a:solidFill>
            <a:ln>
              <a:noFill/>
            </a:ln>
          </p:spPr>
          <p:txBody>
            <a:bodyPr wrap="square">
              <a:normAutofit/>
            </a:bodyPr>
            <a:lstStyle/>
            <a:p>
              <a:endParaRPr lang="pt-BR" noProof="0" dirty="0"/>
            </a:p>
          </p:txBody>
        </p:sp>
      </p:grpSp>
      <p:sp>
        <p:nvSpPr>
          <p:cNvPr id="284" name="TextBox 283"/>
          <p:cNvSpPr txBox="1"/>
          <p:nvPr/>
        </p:nvSpPr>
        <p:spPr>
          <a:xfrm>
            <a:off x="0" y="7648445"/>
            <a:ext cx="14630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200" noProof="0" dirty="0">
                <a:solidFill>
                  <a:srgbClr val="5A5A5A"/>
                </a:solidFill>
                <a:latin typeface="Arial"/>
              </a:rPr>
              <a:t>Também devem ser considerados: acesso a dispositivos/conectividade e equilíbrio entre desafio e habilidade do jogador.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7"/>
          <p:cNvSpPr txBox="1"/>
          <p:nvPr/>
        </p:nvSpPr>
        <p:spPr>
          <a:xfrm>
            <a:off x="0" y="382271"/>
            <a:ext cx="146304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3000" b="1" noProof="0" dirty="0">
                <a:solidFill>
                  <a:srgbClr val="000000"/>
                </a:solidFill>
                <a:latin typeface="Arial"/>
              </a:rPr>
              <a:t>Objetivo Geral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0" y="1920240"/>
            <a:ext cx="146304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800" b="0" noProof="0" dirty="0">
                <a:solidFill>
                  <a:srgbClr val="000000"/>
                </a:solidFill>
                <a:latin typeface="Arial"/>
              </a:rPr>
              <a:t>Desenvolver um jogo educacional web capaz de gerar automaticamente desafios de algoritmos, utilizando IA generativa e elementos de gamificação para auxiliar o ensino de lógica de programação.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2505453" y="4069080"/>
            <a:ext cx="2606040" cy="1234440"/>
          </a:xfrm>
          <a:prstGeom prst="rect">
            <a:avLst/>
          </a:prstGeom>
          <a:solidFill>
            <a:srgbClr val="EEF2F8"/>
          </a:solidFill>
          <a:ln>
            <a:solidFill>
              <a:srgbClr val="0E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1" name="TextBox 290"/>
          <p:cNvSpPr txBox="1"/>
          <p:nvPr/>
        </p:nvSpPr>
        <p:spPr>
          <a:xfrm>
            <a:off x="2615181" y="4270248"/>
            <a:ext cx="2386584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600" b="1" noProof="0" dirty="0">
                <a:solidFill>
                  <a:srgbClr val="0E366D"/>
                </a:solidFill>
                <a:latin typeface="Arial"/>
              </a:rPr>
              <a:t>Desempenho do aluno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2615181" y="4727448"/>
            <a:ext cx="23865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100" b="0" noProof="0" dirty="0">
                <a:solidFill>
                  <a:srgbClr val="5A5A5A"/>
                </a:solidFill>
                <a:latin typeface="Arial"/>
              </a:rPr>
              <a:t>acertos • erros • tentativas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5888733" y="4069080"/>
            <a:ext cx="2606040" cy="1234440"/>
          </a:xfrm>
          <a:prstGeom prst="rect">
            <a:avLst/>
          </a:prstGeom>
          <a:solidFill>
            <a:srgbClr val="EEF2F8"/>
          </a:solidFill>
          <a:ln>
            <a:solidFill>
              <a:srgbClr val="0E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4" name="TextBox 293"/>
          <p:cNvSpPr txBox="1"/>
          <p:nvPr/>
        </p:nvSpPr>
        <p:spPr>
          <a:xfrm>
            <a:off x="5998461" y="4270248"/>
            <a:ext cx="2386584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600" b="1" noProof="0" dirty="0">
                <a:solidFill>
                  <a:srgbClr val="0E366D"/>
                </a:solidFill>
                <a:latin typeface="Arial"/>
              </a:rPr>
              <a:t>IA Generativa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998461" y="4727448"/>
            <a:ext cx="23865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100" b="0" noProof="0" dirty="0">
                <a:solidFill>
                  <a:srgbClr val="5A5A5A"/>
                </a:solidFill>
                <a:latin typeface="Arial"/>
              </a:rPr>
              <a:t>gera e ajusta desafios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9272012" y="4069080"/>
            <a:ext cx="2606040" cy="1234440"/>
          </a:xfrm>
          <a:prstGeom prst="rect">
            <a:avLst/>
          </a:prstGeom>
          <a:solidFill>
            <a:srgbClr val="EEF2F8"/>
          </a:solidFill>
          <a:ln>
            <a:solidFill>
              <a:srgbClr val="0E3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7" name="TextBox 296"/>
          <p:cNvSpPr txBox="1"/>
          <p:nvPr/>
        </p:nvSpPr>
        <p:spPr>
          <a:xfrm>
            <a:off x="9381740" y="4270248"/>
            <a:ext cx="2386584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600" b="1" noProof="0" dirty="0">
                <a:solidFill>
                  <a:srgbClr val="0E366D"/>
                </a:solidFill>
                <a:latin typeface="Arial"/>
              </a:rPr>
              <a:t>Desafio personalizado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381740" y="4727448"/>
            <a:ext cx="2386584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100" b="0" noProof="0" dirty="0">
                <a:solidFill>
                  <a:srgbClr val="5A5A5A"/>
                </a:solidFill>
                <a:latin typeface="Arial"/>
              </a:rPr>
              <a:t>conteúdo no nível adequado</a:t>
            </a:r>
          </a:p>
        </p:txBody>
      </p:sp>
      <p:sp>
        <p:nvSpPr>
          <p:cNvPr id="299" name="Right Arrow 298"/>
          <p:cNvSpPr/>
          <p:nvPr/>
        </p:nvSpPr>
        <p:spPr>
          <a:xfrm>
            <a:off x="5221220" y="4389120"/>
            <a:ext cx="502920" cy="502920"/>
          </a:xfrm>
          <a:prstGeom prst="rightArrow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0" name="Right Arrow 299"/>
          <p:cNvSpPr/>
          <p:nvPr/>
        </p:nvSpPr>
        <p:spPr>
          <a:xfrm>
            <a:off x="8604501" y="4389120"/>
            <a:ext cx="502920" cy="502920"/>
          </a:xfrm>
          <a:prstGeom prst="rightArrow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1" name="TextBox 300"/>
          <p:cNvSpPr txBox="1"/>
          <p:nvPr/>
        </p:nvSpPr>
        <p:spPr>
          <a:xfrm>
            <a:off x="3419853" y="5897880"/>
            <a:ext cx="77724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300" b="0" noProof="0" dirty="0">
                <a:solidFill>
                  <a:srgbClr val="5A5A5A"/>
                </a:solidFill>
                <a:latin typeface="Arial"/>
              </a:rPr>
              <a:t>A adaptação utiliza dados do jogador para orientar os próximos desafios e manter a progressão de aprendizagem.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296"/>
          <p:cNvSpPr txBox="1"/>
          <p:nvPr/>
        </p:nvSpPr>
        <p:spPr>
          <a:xfrm>
            <a:off x="0" y="594360"/>
            <a:ext cx="146304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3000" b="1" noProof="0" dirty="0">
                <a:solidFill>
                  <a:srgbClr val="000000"/>
                </a:solidFill>
                <a:latin typeface="Arial"/>
              </a:rPr>
              <a:t>Objetivos específicos</a:t>
            </a:r>
          </a:p>
        </p:txBody>
      </p:sp>
      <p:sp>
        <p:nvSpPr>
          <p:cNvPr id="298" name="Oval 297"/>
          <p:cNvSpPr/>
          <p:nvPr/>
        </p:nvSpPr>
        <p:spPr>
          <a:xfrm>
            <a:off x="2121403" y="2926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99" name="TextBox 298"/>
          <p:cNvSpPr txBox="1"/>
          <p:nvPr/>
        </p:nvSpPr>
        <p:spPr>
          <a:xfrm>
            <a:off x="2121403" y="3227832"/>
            <a:ext cx="91440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300" b="1" noProof="0" dirty="0">
                <a:solidFill>
                  <a:srgbClr val="0E366D"/>
                </a:solidFill>
                <a:latin typeface="Arial"/>
              </a:rPr>
              <a:t>01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154674" y="3374136"/>
            <a:ext cx="1051560" cy="45720"/>
          </a:xfrm>
          <a:prstGeom prst="rect">
            <a:avLst/>
          </a:prstGeom>
          <a:solidFill>
            <a:srgbClr val="7D7D7D"/>
          </a:solidFill>
          <a:ln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1" name="TextBox 300"/>
          <p:cNvSpPr txBox="1"/>
          <p:nvPr/>
        </p:nvSpPr>
        <p:spPr>
          <a:xfrm>
            <a:off x="1801363" y="4160520"/>
            <a:ext cx="1554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Criar o jogo</a:t>
            </a:r>
          </a:p>
          <a:p>
            <a:pPr algn="ctr"/>
            <a:r>
              <a:rPr lang="pt-BR" sz="1300" b="1" noProof="0" dirty="0" err="1">
                <a:solidFill>
                  <a:srgbClr val="000000"/>
                </a:solidFill>
                <a:latin typeface="Arial"/>
              </a:rPr>
              <a:t>Reprogrammed</a:t>
            </a:r>
            <a:endParaRPr lang="pt-BR" sz="1300" b="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1682491" y="4983480"/>
            <a:ext cx="17830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019" b="0" noProof="0" dirty="0">
                <a:solidFill>
                  <a:srgbClr val="5A5A5A"/>
                </a:solidFill>
                <a:latin typeface="Arial"/>
              </a:rPr>
              <a:t>Ambiente web com fases, narrativa e mecânicas gamificadas.</a:t>
            </a:r>
          </a:p>
        </p:txBody>
      </p:sp>
      <p:sp>
        <p:nvSpPr>
          <p:cNvPr id="303" name="Oval 302"/>
          <p:cNvSpPr/>
          <p:nvPr/>
        </p:nvSpPr>
        <p:spPr>
          <a:xfrm>
            <a:off x="4425691" y="2926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4" name="TextBox 303"/>
          <p:cNvSpPr txBox="1"/>
          <p:nvPr/>
        </p:nvSpPr>
        <p:spPr>
          <a:xfrm>
            <a:off x="4425691" y="3227832"/>
            <a:ext cx="91440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300" b="1" noProof="0" dirty="0">
                <a:solidFill>
                  <a:srgbClr val="0E366D"/>
                </a:solidFill>
                <a:latin typeface="Arial"/>
              </a:rPr>
              <a:t>02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5458962" y="3374136"/>
            <a:ext cx="1051560" cy="45720"/>
          </a:xfrm>
          <a:prstGeom prst="rect">
            <a:avLst/>
          </a:prstGeom>
          <a:solidFill>
            <a:srgbClr val="7D7D7D"/>
          </a:solidFill>
          <a:ln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6" name="TextBox 305"/>
          <p:cNvSpPr txBox="1"/>
          <p:nvPr/>
        </p:nvSpPr>
        <p:spPr>
          <a:xfrm>
            <a:off x="4105651" y="4160520"/>
            <a:ext cx="1554480" cy="59436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Implementar desafios</a:t>
            </a:r>
          </a:p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progressivos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3986779" y="4983480"/>
            <a:ext cx="17830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019" b="0" noProof="0" dirty="0">
                <a:solidFill>
                  <a:srgbClr val="5A5A5A"/>
                </a:solidFill>
                <a:latin typeface="Arial"/>
              </a:rPr>
              <a:t>Sequência lógica, condicionais, loops, variáveis e funções.</a:t>
            </a:r>
          </a:p>
        </p:txBody>
      </p:sp>
      <p:sp>
        <p:nvSpPr>
          <p:cNvPr id="308" name="Oval 307"/>
          <p:cNvSpPr/>
          <p:nvPr/>
        </p:nvSpPr>
        <p:spPr>
          <a:xfrm>
            <a:off x="6729979" y="2926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09" name="TextBox 308"/>
          <p:cNvSpPr txBox="1"/>
          <p:nvPr/>
        </p:nvSpPr>
        <p:spPr>
          <a:xfrm>
            <a:off x="6729979" y="3227832"/>
            <a:ext cx="91440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300" b="1" noProof="0" dirty="0">
                <a:solidFill>
                  <a:srgbClr val="0E366D"/>
                </a:solidFill>
                <a:latin typeface="Arial"/>
              </a:rPr>
              <a:t>03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7763250" y="3374136"/>
            <a:ext cx="1051560" cy="45720"/>
          </a:xfrm>
          <a:prstGeom prst="rect">
            <a:avLst/>
          </a:prstGeom>
          <a:solidFill>
            <a:srgbClr val="7D7D7D"/>
          </a:solidFill>
          <a:ln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1" name="TextBox 310"/>
          <p:cNvSpPr txBox="1"/>
          <p:nvPr/>
        </p:nvSpPr>
        <p:spPr>
          <a:xfrm>
            <a:off x="6409939" y="4160520"/>
            <a:ext cx="1554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Integrar IA</a:t>
            </a:r>
          </a:p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generativa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291067" y="4983480"/>
            <a:ext cx="17830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019" b="0" noProof="0" dirty="0">
                <a:solidFill>
                  <a:srgbClr val="5A5A5A"/>
                </a:solidFill>
                <a:latin typeface="Arial"/>
              </a:rPr>
              <a:t>Gerar desafios automaticamente conforme o desempenho.</a:t>
            </a:r>
          </a:p>
        </p:txBody>
      </p:sp>
      <p:sp>
        <p:nvSpPr>
          <p:cNvPr id="313" name="Oval 312"/>
          <p:cNvSpPr/>
          <p:nvPr/>
        </p:nvSpPr>
        <p:spPr>
          <a:xfrm>
            <a:off x="9034267" y="2926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4" name="TextBox 313"/>
          <p:cNvSpPr txBox="1"/>
          <p:nvPr/>
        </p:nvSpPr>
        <p:spPr>
          <a:xfrm>
            <a:off x="9034267" y="3227832"/>
            <a:ext cx="91440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300" b="1" noProof="0" dirty="0">
                <a:solidFill>
                  <a:srgbClr val="0E366D"/>
                </a:solidFill>
                <a:latin typeface="Arial"/>
              </a:rPr>
              <a:t>04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0067538" y="3374136"/>
            <a:ext cx="1051560" cy="45720"/>
          </a:xfrm>
          <a:prstGeom prst="rect">
            <a:avLst/>
          </a:prstGeom>
          <a:solidFill>
            <a:srgbClr val="7D7D7D"/>
          </a:solidFill>
          <a:ln>
            <a:solidFill>
              <a:srgbClr val="7D7D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6" name="TextBox 315"/>
          <p:cNvSpPr txBox="1"/>
          <p:nvPr/>
        </p:nvSpPr>
        <p:spPr>
          <a:xfrm>
            <a:off x="8714227" y="4160520"/>
            <a:ext cx="1554480" cy="59436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Registrar progresso</a:t>
            </a:r>
          </a:p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e desempenho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595355" y="4983480"/>
            <a:ext cx="17830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019" b="0" noProof="0" dirty="0">
                <a:solidFill>
                  <a:srgbClr val="5A5A5A"/>
                </a:solidFill>
                <a:latin typeface="Arial"/>
              </a:rPr>
              <a:t>Armazenar acertos, erros, tentativas e evolução do usuário.</a:t>
            </a:r>
          </a:p>
        </p:txBody>
      </p:sp>
      <p:sp>
        <p:nvSpPr>
          <p:cNvPr id="318" name="Oval 317"/>
          <p:cNvSpPr/>
          <p:nvPr/>
        </p:nvSpPr>
        <p:spPr>
          <a:xfrm>
            <a:off x="11338555" y="2926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19" name="TextBox 318"/>
          <p:cNvSpPr txBox="1"/>
          <p:nvPr/>
        </p:nvSpPr>
        <p:spPr>
          <a:xfrm>
            <a:off x="11338555" y="3227832"/>
            <a:ext cx="914400" cy="27432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/>
            <a:r>
              <a:rPr lang="pt-BR" sz="1300" b="1" noProof="0" dirty="0">
                <a:solidFill>
                  <a:srgbClr val="0E366D"/>
                </a:solidFill>
                <a:latin typeface="Arial"/>
              </a:rPr>
              <a:t>05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1018515" y="4160520"/>
            <a:ext cx="155448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Validar o</a:t>
            </a:r>
          </a:p>
          <a:p>
            <a:pPr algn="ctr"/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sistema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0899643" y="4983480"/>
            <a:ext cx="17830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019" b="0" noProof="0" dirty="0">
                <a:solidFill>
                  <a:srgbClr val="5A5A5A"/>
                </a:solidFill>
                <a:latin typeface="Arial"/>
              </a:rPr>
              <a:t>Realizar testes funcionais e avaliar a usabilidade das mecânicas.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Box 330"/>
          <p:cNvSpPr txBox="1"/>
          <p:nvPr/>
        </p:nvSpPr>
        <p:spPr>
          <a:xfrm>
            <a:off x="0" y="411480"/>
            <a:ext cx="146304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2800" b="1" noProof="0" dirty="0">
                <a:solidFill>
                  <a:srgbClr val="000000"/>
                </a:solidFill>
                <a:latin typeface="Arial"/>
              </a:rPr>
              <a:t>Arquitetura do Sistema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0" y="985723"/>
            <a:ext cx="146304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300" noProof="0" dirty="0">
                <a:solidFill>
                  <a:srgbClr val="5A5A5A"/>
                </a:solidFill>
                <a:latin typeface="Arial"/>
              </a:rPr>
              <a:t>Visão geral da aplicação</a:t>
            </a:r>
          </a:p>
        </p:txBody>
      </p:sp>
      <p:sp>
        <p:nvSpPr>
          <p:cNvPr id="333" name="Rounded Rectangle 332"/>
          <p:cNvSpPr/>
          <p:nvPr/>
        </p:nvSpPr>
        <p:spPr>
          <a:xfrm>
            <a:off x="822960" y="1417320"/>
            <a:ext cx="12847320" cy="5437022"/>
          </a:xfrm>
          <a:prstGeom prst="roundRect">
            <a:avLst/>
          </a:prstGeom>
          <a:solidFill>
            <a:srgbClr val="F8FAFF"/>
          </a:solidFill>
          <a:ln>
            <a:solidFill>
              <a:srgbClr val="D7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pic>
        <p:nvPicPr>
          <p:cNvPr id="334" name="Picture 333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45" y="1726382"/>
            <a:ext cx="12068252" cy="4879243"/>
          </a:xfrm>
          <a:prstGeom prst="rect">
            <a:avLst/>
          </a:prstGeom>
        </p:spPr>
      </p:pic>
      <p:sp>
        <p:nvSpPr>
          <p:cNvPr id="335" name="Rounded Rectangle 334"/>
          <p:cNvSpPr/>
          <p:nvPr/>
        </p:nvSpPr>
        <p:spPr>
          <a:xfrm>
            <a:off x="2117749" y="7181694"/>
            <a:ext cx="25146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36" name="TextBox 335"/>
          <p:cNvSpPr txBox="1"/>
          <p:nvPr/>
        </p:nvSpPr>
        <p:spPr>
          <a:xfrm>
            <a:off x="2282341" y="7291422"/>
            <a:ext cx="2185416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pt-BR" sz="1100" b="1" noProof="0" dirty="0" err="1">
                <a:solidFill>
                  <a:srgbClr val="0E366D"/>
                </a:solidFill>
                <a:latin typeface="Arial"/>
              </a:rPr>
              <a:t>Frontend</a:t>
            </a:r>
            <a:endParaRPr lang="pt-BR" sz="1100" b="1" noProof="0" dirty="0">
              <a:solidFill>
                <a:srgbClr val="0E366D"/>
              </a:solidFill>
              <a:latin typeface="Arial"/>
            </a:endParaRPr>
          </a:p>
          <a:p>
            <a:pPr algn="l"/>
            <a:r>
              <a:rPr lang="pt-BR" sz="850" noProof="0" dirty="0">
                <a:solidFill>
                  <a:srgbClr val="000000"/>
                </a:solidFill>
                <a:latin typeface="Arial"/>
              </a:rPr>
              <a:t>• HTML, CSS, JS e Phaser.js</a:t>
            </a:r>
          </a:p>
        </p:txBody>
      </p:sp>
      <p:sp>
        <p:nvSpPr>
          <p:cNvPr id="337" name="Rounded Rectangle 336"/>
          <p:cNvSpPr/>
          <p:nvPr/>
        </p:nvSpPr>
        <p:spPr>
          <a:xfrm>
            <a:off x="4769509" y="7181694"/>
            <a:ext cx="25146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38" name="TextBox 337"/>
          <p:cNvSpPr txBox="1"/>
          <p:nvPr/>
        </p:nvSpPr>
        <p:spPr>
          <a:xfrm>
            <a:off x="4934101" y="7291422"/>
            <a:ext cx="2185416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pt-BR" sz="1100" b="1" noProof="0" dirty="0" err="1">
                <a:solidFill>
                  <a:srgbClr val="0E366D"/>
                </a:solidFill>
                <a:latin typeface="Arial"/>
              </a:rPr>
              <a:t>Backend</a:t>
            </a:r>
            <a:endParaRPr lang="pt-BR" sz="1100" b="1" noProof="0" dirty="0">
              <a:solidFill>
                <a:srgbClr val="0E366D"/>
              </a:solidFill>
              <a:latin typeface="Arial"/>
            </a:endParaRPr>
          </a:p>
          <a:p>
            <a:pPr algn="l"/>
            <a:r>
              <a:rPr lang="pt-BR" sz="850" noProof="0" dirty="0">
                <a:solidFill>
                  <a:srgbClr val="000000"/>
                </a:solidFill>
                <a:latin typeface="Arial"/>
              </a:rPr>
              <a:t>• Node.js e Express.js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7421269" y="7181694"/>
            <a:ext cx="25146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40" name="TextBox 339"/>
          <p:cNvSpPr txBox="1"/>
          <p:nvPr/>
        </p:nvSpPr>
        <p:spPr>
          <a:xfrm>
            <a:off x="7585861" y="7291422"/>
            <a:ext cx="2185416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pt-BR" sz="1100" b="1" noProof="0" dirty="0">
                <a:solidFill>
                  <a:srgbClr val="0E366D"/>
                </a:solidFill>
                <a:latin typeface="Arial"/>
              </a:rPr>
              <a:t>Banco de dados</a:t>
            </a:r>
          </a:p>
          <a:p>
            <a:pPr algn="l"/>
            <a:r>
              <a:rPr lang="pt-BR" sz="850" noProof="0" dirty="0">
                <a:solidFill>
                  <a:srgbClr val="000000"/>
                </a:solidFill>
                <a:latin typeface="Arial"/>
              </a:rPr>
              <a:t>• </a:t>
            </a:r>
            <a:r>
              <a:rPr lang="pt-BR" sz="850" noProof="0" dirty="0" err="1">
                <a:solidFill>
                  <a:srgbClr val="000000"/>
                </a:solidFill>
                <a:latin typeface="Arial"/>
              </a:rPr>
              <a:t>Supabase</a:t>
            </a:r>
            <a:endParaRPr lang="pt-BR" sz="850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Rounded Rectangle 340"/>
          <p:cNvSpPr/>
          <p:nvPr/>
        </p:nvSpPr>
        <p:spPr>
          <a:xfrm>
            <a:off x="10073029" y="7181694"/>
            <a:ext cx="25146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42" name="TextBox 341"/>
          <p:cNvSpPr txBox="1"/>
          <p:nvPr/>
        </p:nvSpPr>
        <p:spPr>
          <a:xfrm>
            <a:off x="10237621" y="7291422"/>
            <a:ext cx="2185416" cy="4663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pt-BR" sz="1100" b="1" noProof="0" dirty="0">
                <a:solidFill>
                  <a:srgbClr val="0E366D"/>
                </a:solidFill>
                <a:latin typeface="Arial"/>
              </a:rPr>
              <a:t>IA + adaptação</a:t>
            </a:r>
          </a:p>
          <a:p>
            <a:pPr algn="l"/>
            <a:r>
              <a:rPr lang="pt-BR" sz="850" noProof="0" dirty="0">
                <a:solidFill>
                  <a:srgbClr val="000000"/>
                </a:solidFill>
                <a:latin typeface="Arial"/>
              </a:rPr>
              <a:t>• API de IA e métricas do jogador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0" y="385675"/>
            <a:ext cx="146304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00"/>
              <a:buFont typeface="Arial"/>
              <a:buNone/>
            </a:pPr>
            <a:r>
              <a:rPr lang="pt-BR" sz="2700" b="1" noProof="0" dirty="0">
                <a:solidFill>
                  <a:srgbClr val="000000"/>
                </a:solidFill>
                <a:latin typeface="Arial"/>
              </a:rPr>
              <a:t>Tecnologias e componentes do projeto</a:t>
            </a:r>
            <a:endParaRPr lang="pt-BR" sz="3900" b="1" i="0" u="none" strike="noStrike" cap="none" noProof="0" dirty="0">
              <a:solidFill>
                <a:schemeClr val="dk1"/>
              </a:solidFill>
            </a:endParaRPr>
          </a:p>
        </p:txBody>
      </p:sp>
      <p:sp>
        <p:nvSpPr>
          <p:cNvPr id="337" name="Google Shape;337;p50"/>
          <p:cNvSpPr/>
          <p:nvPr/>
        </p:nvSpPr>
        <p:spPr>
          <a:xfrm>
            <a:off x="0" y="1141061"/>
            <a:ext cx="14630400" cy="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noProof="0" dirty="0">
                <a:solidFill>
                  <a:srgbClr val="5A5A5A"/>
                </a:solidFill>
                <a:latin typeface="Arial"/>
              </a:rPr>
              <a:t>O sistema será estruturado como uma aplicação web, com interface gamificada, </a:t>
            </a:r>
            <a:r>
              <a:rPr lang="pt-BR" noProof="0" dirty="0" err="1">
                <a:solidFill>
                  <a:srgbClr val="5A5A5A"/>
                </a:solidFill>
                <a:latin typeface="Arial"/>
              </a:rPr>
              <a:t>backend</a:t>
            </a:r>
            <a:r>
              <a:rPr lang="pt-BR" noProof="0" dirty="0">
                <a:solidFill>
                  <a:srgbClr val="5A5A5A"/>
                </a:solidFill>
                <a:latin typeface="Arial"/>
              </a:rPr>
              <a:t> para regras de negócio e banco de dados para persistência.</a:t>
            </a:r>
            <a:endParaRPr lang="pt-BR" sz="20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0"/>
          <p:cNvSpPr/>
          <p:nvPr/>
        </p:nvSpPr>
        <p:spPr>
          <a:xfrm>
            <a:off x="977991" y="3545875"/>
            <a:ext cx="42507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300" b="1" noProof="0" dirty="0" err="1">
                <a:solidFill>
                  <a:srgbClr val="000000"/>
                </a:solidFill>
                <a:latin typeface="Arial"/>
              </a:rPr>
              <a:t>Frontend</a:t>
            </a:r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: HTML, CSS, </a:t>
            </a:r>
            <a:r>
              <a:rPr lang="pt-BR" sz="1300" b="1" noProof="0" dirty="0" err="1">
                <a:solidFill>
                  <a:srgbClr val="000000"/>
                </a:solidFill>
                <a:latin typeface="Arial"/>
              </a:rPr>
              <a:t>JavaScript</a:t>
            </a:r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 e Phaser.js</a:t>
            </a:r>
            <a:endParaRPr lang="pt-BR" sz="160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0"/>
          <p:cNvSpPr/>
          <p:nvPr/>
        </p:nvSpPr>
        <p:spPr>
          <a:xfrm>
            <a:off x="977991" y="3975095"/>
            <a:ext cx="5653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150" b="0" noProof="0" dirty="0">
                <a:solidFill>
                  <a:srgbClr val="000000"/>
                </a:solidFill>
                <a:latin typeface="Arial"/>
              </a:rPr>
              <a:t>Responsável pela interface, fases, puzzles, cenas do jogo e batalhas em pixel art.</a:t>
            </a:r>
            <a:endParaRPr lang="pt-BR" sz="16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0"/>
          <p:cNvSpPr/>
          <p:nvPr/>
        </p:nvSpPr>
        <p:spPr>
          <a:xfrm>
            <a:off x="8068271" y="3545875"/>
            <a:ext cx="39762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300" b="1" noProof="0" dirty="0" err="1">
                <a:solidFill>
                  <a:srgbClr val="000000"/>
                </a:solidFill>
                <a:latin typeface="Arial"/>
              </a:rPr>
              <a:t>Backend</a:t>
            </a:r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: Node.js e Express.js</a:t>
            </a:r>
            <a:endParaRPr lang="pt-BR" sz="160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0"/>
          <p:cNvSpPr/>
          <p:nvPr/>
        </p:nvSpPr>
        <p:spPr>
          <a:xfrm>
            <a:off x="8068271" y="3975095"/>
            <a:ext cx="5653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150" b="0" noProof="0" dirty="0">
                <a:solidFill>
                  <a:srgbClr val="000000"/>
                </a:solidFill>
                <a:latin typeface="Arial"/>
              </a:rPr>
              <a:t>Processa autenticação, progresso, regras de negócio, rotas da API e integração com IA.</a:t>
            </a:r>
            <a:endParaRPr lang="pt-BR" sz="16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0"/>
          <p:cNvSpPr/>
          <p:nvPr/>
        </p:nvSpPr>
        <p:spPr>
          <a:xfrm>
            <a:off x="908929" y="6345764"/>
            <a:ext cx="24810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Banco de dados: </a:t>
            </a:r>
            <a:r>
              <a:rPr lang="pt-BR" sz="1300" b="1" noProof="0" dirty="0" err="1"/>
              <a:t>Supabase</a:t>
            </a:r>
            <a:endParaRPr lang="pt-BR" sz="160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0"/>
          <p:cNvSpPr/>
          <p:nvPr/>
        </p:nvSpPr>
        <p:spPr>
          <a:xfrm>
            <a:off x="908929" y="6774985"/>
            <a:ext cx="5653200" cy="12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150" b="0" noProof="0" dirty="0">
                <a:solidFill>
                  <a:srgbClr val="000000"/>
                </a:solidFill>
                <a:latin typeface="Arial"/>
              </a:rPr>
              <a:t>Armazena usuários, progresso, desempenho, histórico de aprendizagem e estatísticas.</a:t>
            </a:r>
            <a:endParaRPr lang="pt-BR" sz="16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0"/>
          <p:cNvSpPr/>
          <p:nvPr/>
        </p:nvSpPr>
        <p:spPr>
          <a:xfrm>
            <a:off x="8068259" y="6345752"/>
            <a:ext cx="27957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300" b="1" noProof="0" dirty="0">
                <a:solidFill>
                  <a:srgbClr val="000000"/>
                </a:solidFill>
                <a:latin typeface="Arial"/>
              </a:rPr>
              <a:t>IA generativa e sistema adaptativo</a:t>
            </a:r>
            <a:endParaRPr lang="pt-BR" sz="160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0"/>
          <p:cNvSpPr/>
          <p:nvPr/>
        </p:nvSpPr>
        <p:spPr>
          <a:xfrm>
            <a:off x="8068259" y="6774973"/>
            <a:ext cx="56532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850"/>
              <a:buFont typeface="Arial"/>
              <a:buNone/>
            </a:pPr>
            <a:r>
              <a:rPr lang="pt-BR" sz="1150" b="0" noProof="0" dirty="0">
                <a:solidFill>
                  <a:srgbClr val="000000"/>
                </a:solidFill>
                <a:latin typeface="Arial"/>
              </a:rPr>
              <a:t>Gera desafios automaticamente e ajusta a dificuldade com base em acertos, erros e tentativas.</a:t>
            </a:r>
            <a:endParaRPr lang="pt-BR" sz="160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Oval 345"/>
          <p:cNvSpPr/>
          <p:nvPr/>
        </p:nvSpPr>
        <p:spPr>
          <a:xfrm>
            <a:off x="1828800" y="2018996"/>
            <a:ext cx="685800" cy="685800"/>
          </a:xfrm>
          <a:prstGeom prst="ellipse">
            <a:avLst/>
          </a:prstGeom>
          <a:solidFill>
            <a:srgbClr val="E9F2FF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47" name="TextBox 346"/>
          <p:cNvSpPr txBox="1"/>
          <p:nvPr/>
        </p:nvSpPr>
        <p:spPr>
          <a:xfrm>
            <a:off x="1828800" y="2104570"/>
            <a:ext cx="685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2400" noProof="0" dirty="0">
                <a:solidFill>
                  <a:srgbClr val="0E366D"/>
                </a:solidFill>
                <a:latin typeface="Arial"/>
              </a:rPr>
              <a:t>🌐</a:t>
            </a:r>
          </a:p>
        </p:txBody>
      </p:sp>
      <p:sp>
        <p:nvSpPr>
          <p:cNvPr id="348" name="Oval 347"/>
          <p:cNvSpPr/>
          <p:nvPr/>
        </p:nvSpPr>
        <p:spPr>
          <a:xfrm>
            <a:off x="8321040" y="2073860"/>
            <a:ext cx="685800" cy="685800"/>
          </a:xfrm>
          <a:prstGeom prst="ellipse">
            <a:avLst/>
          </a:prstGeom>
          <a:solidFill>
            <a:srgbClr val="E9F2FF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49" name="TextBox 348"/>
          <p:cNvSpPr txBox="1"/>
          <p:nvPr/>
        </p:nvSpPr>
        <p:spPr>
          <a:xfrm>
            <a:off x="8321040" y="2166880"/>
            <a:ext cx="685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2400" noProof="0" dirty="0">
                <a:solidFill>
                  <a:srgbClr val="0E366D"/>
                </a:solidFill>
                <a:latin typeface="Arial"/>
              </a:rPr>
              <a:t>⚙</a:t>
            </a:r>
          </a:p>
        </p:txBody>
      </p:sp>
      <p:sp>
        <p:nvSpPr>
          <p:cNvPr id="350" name="Oval 349"/>
          <p:cNvSpPr/>
          <p:nvPr/>
        </p:nvSpPr>
        <p:spPr>
          <a:xfrm>
            <a:off x="1828800" y="5051141"/>
            <a:ext cx="685800" cy="685800"/>
          </a:xfrm>
          <a:prstGeom prst="ellipse">
            <a:avLst/>
          </a:prstGeom>
          <a:solidFill>
            <a:srgbClr val="E9F2FF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51" name="TextBox 350"/>
          <p:cNvSpPr txBox="1"/>
          <p:nvPr/>
        </p:nvSpPr>
        <p:spPr>
          <a:xfrm>
            <a:off x="1828800" y="5146932"/>
            <a:ext cx="685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2400" noProof="0" dirty="0">
                <a:solidFill>
                  <a:srgbClr val="0E366D"/>
                </a:solidFill>
                <a:latin typeface="Arial"/>
              </a:rPr>
              <a:t>🗄</a:t>
            </a:r>
          </a:p>
        </p:txBody>
      </p:sp>
      <p:sp>
        <p:nvSpPr>
          <p:cNvPr id="352" name="Oval 351"/>
          <p:cNvSpPr/>
          <p:nvPr/>
        </p:nvSpPr>
        <p:spPr>
          <a:xfrm>
            <a:off x="8321040" y="5051141"/>
            <a:ext cx="685800" cy="685800"/>
          </a:xfrm>
          <a:prstGeom prst="ellipse">
            <a:avLst/>
          </a:prstGeom>
          <a:solidFill>
            <a:srgbClr val="E9F2FF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pt-BR" noProof="0" dirty="0"/>
          </a:p>
        </p:txBody>
      </p:sp>
      <p:sp>
        <p:nvSpPr>
          <p:cNvPr id="353" name="TextBox 352"/>
          <p:cNvSpPr txBox="1"/>
          <p:nvPr/>
        </p:nvSpPr>
        <p:spPr>
          <a:xfrm>
            <a:off x="8321040" y="5133753"/>
            <a:ext cx="685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2400" noProof="0" dirty="0">
                <a:solidFill>
                  <a:srgbClr val="0E366D"/>
                </a:solidFill>
                <a:latin typeface="Arial"/>
              </a:rPr>
              <a:t>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 sz="3000" b="1" noProof="0" dirty="0">
                <a:solidFill>
                  <a:srgbClr val="000000"/>
                </a:solidFill>
                <a:latin typeface="Arial"/>
              </a:rPr>
              <a:t>Comunicação e formato dos dados</a:t>
            </a:r>
            <a:endParaRPr lang="pt-BR" b="1" noProof="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1"/>
          <p:cNvSpPr/>
          <p:nvPr/>
        </p:nvSpPr>
        <p:spPr>
          <a:xfrm>
            <a:off x="1942088" y="3056173"/>
            <a:ext cx="4290900" cy="4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600" b="1" noProof="0" dirty="0">
                <a:solidFill>
                  <a:srgbClr val="000000"/>
                </a:solidFill>
                <a:latin typeface="Arial"/>
              </a:rPr>
              <a:t>Estrutura dos Dados – JSON</a:t>
            </a:r>
            <a:endParaRPr lang="pt-BR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1"/>
          <p:cNvSpPr/>
          <p:nvPr/>
        </p:nvSpPr>
        <p:spPr>
          <a:xfrm>
            <a:off x="1884539" y="3720721"/>
            <a:ext cx="4751400" cy="28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346075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●"/>
            </a:pPr>
            <a:r>
              <a:rPr lang="pt-BR" noProof="0" dirty="0">
                <a:solidFill>
                  <a:srgbClr val="000000"/>
                </a:solidFill>
                <a:latin typeface="Arial"/>
              </a:rPr>
              <a:t>Formato leve e padronizado</a:t>
            </a:r>
          </a:p>
          <a:p>
            <a:pPr marL="457200" indent="-346075">
              <a:lnSpc>
                <a:spcPct val="135135"/>
              </a:lnSpc>
              <a:buClr>
                <a:schemeClr val="dk1"/>
              </a:buClr>
              <a:buSzPts val="1850"/>
              <a:buFont typeface="Arial"/>
              <a:buChar char="●"/>
            </a:pPr>
            <a:r>
              <a:rPr lang="pt-BR" noProof="0" dirty="0"/>
              <a:t>Envia desempenho, progresso e parâmetros dos desafios</a:t>
            </a:r>
          </a:p>
          <a:p>
            <a:pPr marL="457200" indent="-346075">
              <a:lnSpc>
                <a:spcPct val="135135"/>
              </a:lnSpc>
              <a:buClr>
                <a:schemeClr val="dk1"/>
              </a:buClr>
              <a:buSzPts val="1850"/>
              <a:buFont typeface="Arial"/>
              <a:buChar char="●"/>
            </a:pPr>
            <a:r>
              <a:rPr lang="pt-BR" noProof="0" dirty="0"/>
              <a:t>Facilita a integração entre </a:t>
            </a:r>
            <a:r>
              <a:rPr lang="pt-BR" noProof="0" dirty="0" err="1"/>
              <a:t>frontend</a:t>
            </a:r>
            <a:r>
              <a:rPr lang="pt-BR" noProof="0" dirty="0"/>
              <a:t>, </a:t>
            </a:r>
            <a:r>
              <a:rPr lang="pt-BR" noProof="0" dirty="0" err="1"/>
              <a:t>backend</a:t>
            </a:r>
            <a:r>
              <a:rPr lang="pt-BR" noProof="0" dirty="0"/>
              <a:t> e IA</a:t>
            </a:r>
          </a:p>
          <a:p>
            <a:pPr marL="457200" indent="-346075">
              <a:lnSpc>
                <a:spcPct val="135135"/>
              </a:lnSpc>
              <a:buClr>
                <a:schemeClr val="dk1"/>
              </a:buClr>
              <a:buSzPts val="1850"/>
              <a:buFont typeface="Arial"/>
              <a:buChar char="●"/>
            </a:pPr>
            <a:endParaRPr lang="pt-BR" sz="1200" noProof="0" dirty="0"/>
          </a:p>
          <a:p>
            <a:pPr marL="457200" marR="0" lvl="0" indent="-346075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●"/>
            </a:pPr>
            <a:endParaRPr lang="pt-BR" sz="1200" noProof="0" dirty="0">
              <a:solidFill>
                <a:srgbClr val="000000"/>
              </a:solidFill>
              <a:latin typeface="Arial"/>
            </a:endParaRPr>
          </a:p>
          <a:p>
            <a:pPr marL="457200" marR="0" lvl="0" indent="-346075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●"/>
            </a:pP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838" y="2981321"/>
            <a:ext cx="914763" cy="62040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1"/>
          <p:cNvSpPr/>
          <p:nvPr/>
        </p:nvSpPr>
        <p:spPr>
          <a:xfrm>
            <a:off x="8880862" y="3076422"/>
            <a:ext cx="4925700" cy="4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Arial"/>
              <a:buNone/>
            </a:pPr>
            <a:r>
              <a:rPr lang="pt-BR" sz="1600" b="1" noProof="0" dirty="0">
                <a:solidFill>
                  <a:srgbClr val="000000"/>
                </a:solidFill>
                <a:latin typeface="Arial"/>
              </a:rPr>
              <a:t>Comunicação – API REST</a:t>
            </a:r>
            <a:endParaRPr lang="pt-BR" sz="2000" b="1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51"/>
          <p:cNvSpPr/>
          <p:nvPr/>
        </p:nvSpPr>
        <p:spPr>
          <a:xfrm>
            <a:off x="8880862" y="3720721"/>
            <a:ext cx="4925700" cy="23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346075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●"/>
            </a:pPr>
            <a:r>
              <a:rPr lang="pt-BR" noProof="0" dirty="0">
                <a:solidFill>
                  <a:srgbClr val="000000"/>
                </a:solidFill>
                <a:latin typeface="Arial"/>
              </a:rPr>
              <a:t>Requisições HTTP/HTTPS</a:t>
            </a:r>
          </a:p>
          <a:p>
            <a:pPr marL="457200" indent="-346075">
              <a:lnSpc>
                <a:spcPct val="135135"/>
              </a:lnSpc>
              <a:buClr>
                <a:schemeClr val="dk1"/>
              </a:buClr>
              <a:buSzPts val="1850"/>
              <a:buFont typeface="Arial"/>
              <a:buChar char="●"/>
            </a:pPr>
            <a:r>
              <a:rPr lang="pt-BR" noProof="0" dirty="0" err="1"/>
              <a:t>Frontend</a:t>
            </a:r>
            <a:r>
              <a:rPr lang="pt-BR" noProof="0" dirty="0"/>
              <a:t> solicita desafios e envia respostas</a:t>
            </a:r>
          </a:p>
          <a:p>
            <a:pPr marL="457200" indent="-346075">
              <a:lnSpc>
                <a:spcPct val="135135"/>
              </a:lnSpc>
              <a:buClr>
                <a:schemeClr val="dk1"/>
              </a:buClr>
              <a:buSzPts val="1850"/>
              <a:buFont typeface="Arial"/>
              <a:buChar char="●"/>
            </a:pPr>
            <a:r>
              <a:rPr lang="pt-BR" noProof="0" dirty="0" err="1"/>
              <a:t>Backend</a:t>
            </a:r>
            <a:r>
              <a:rPr lang="pt-BR" noProof="0" dirty="0"/>
              <a:t> valida, persiste dados e aciona a IA</a:t>
            </a:r>
          </a:p>
          <a:p>
            <a:pPr marL="457200" indent="-346075">
              <a:lnSpc>
                <a:spcPct val="135135"/>
              </a:lnSpc>
              <a:buClr>
                <a:schemeClr val="dk1"/>
              </a:buClr>
              <a:buSzPts val="1850"/>
              <a:buFont typeface="Arial"/>
              <a:buChar char="●"/>
            </a:pPr>
            <a:endParaRPr lang="pt-BR" sz="1200" noProof="0" dirty="0"/>
          </a:p>
          <a:p>
            <a:pPr marL="457200" marR="0" lvl="0" indent="-346075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●"/>
            </a:pPr>
            <a:endParaRPr lang="pt-BR" sz="1200" noProof="0" dirty="0">
              <a:solidFill>
                <a:srgbClr val="000000"/>
              </a:solidFill>
              <a:latin typeface="Arial"/>
            </a:endParaRPr>
          </a:p>
          <a:p>
            <a:pPr marL="457200" marR="0" lvl="0" indent="-346075" algn="l" rtl="0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Char char="●"/>
            </a:pPr>
            <a:endParaRPr lang="pt-BR" sz="1850" b="0" i="0" u="none" strike="noStrike" cap="none" noProof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99613" y="2981321"/>
            <a:ext cx="1050099" cy="620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 sz="2700" b="1" noProof="0" dirty="0">
                <a:solidFill>
                  <a:srgbClr val="000000"/>
                </a:solidFill>
                <a:latin typeface="Arial"/>
              </a:rPr>
              <a:t>Fluxo de funcionamento do sistema</a:t>
            </a:r>
            <a:endParaRPr lang="pt-BR" b="1" noProof="0" dirty="0"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lang="pt-BR" sz="2700" b="1" noProof="0" dirty="0">
                <a:solidFill>
                  <a:srgbClr val="000000"/>
                </a:solidFill>
                <a:latin typeface="Arial"/>
              </a:rPr>
              <a:t>Da entrada do usuário à adaptação dos desafios</a:t>
            </a:r>
          </a:p>
        </p:txBody>
      </p:sp>
      <p:grpSp>
        <p:nvGrpSpPr>
          <p:cNvPr id="388" name="Google Shape;388;p53"/>
          <p:cNvGrpSpPr/>
          <p:nvPr/>
        </p:nvGrpSpPr>
        <p:grpSpPr>
          <a:xfrm>
            <a:off x="494140" y="2092349"/>
            <a:ext cx="5693400" cy="1479360"/>
            <a:chOff x="308838" y="1242975"/>
            <a:chExt cx="3558375" cy="924600"/>
          </a:xfrm>
        </p:grpSpPr>
        <p:cxnSp>
          <p:nvCxnSpPr>
            <p:cNvPr id="389" name="Google Shape;389;p53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w="9525" cap="flat" cmpd="sng">
              <a:solidFill>
                <a:srgbClr val="307AF3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390" name="Google Shape;390;p53"/>
            <p:cNvSpPr txBox="1"/>
            <p:nvPr/>
          </p:nvSpPr>
          <p:spPr>
            <a:xfrm>
              <a:off x="30883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Usuário realiza login e acessa o jogo</a:t>
              </a:r>
              <a:endParaRPr lang="pt-BR" sz="2000" b="0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1" name="Google Shape;391;p53"/>
          <p:cNvGrpSpPr/>
          <p:nvPr/>
        </p:nvGrpSpPr>
        <p:grpSpPr>
          <a:xfrm>
            <a:off x="494140" y="4337389"/>
            <a:ext cx="5220960" cy="1479360"/>
            <a:chOff x="308838" y="2646125"/>
            <a:chExt cx="3263100" cy="924600"/>
          </a:xfrm>
        </p:grpSpPr>
        <p:cxnSp>
          <p:nvCxnSpPr>
            <p:cNvPr id="392" name="Google Shape;392;p53"/>
            <p:cNvCxnSpPr/>
            <p:nvPr/>
          </p:nvCxnSpPr>
          <p:spPr>
            <a:xfrm rot="10800000">
              <a:off x="2641938" y="3108425"/>
              <a:ext cx="930000" cy="0"/>
            </a:xfrm>
            <a:prstGeom prst="straightConnector1">
              <a:avLst/>
            </a:prstGeom>
            <a:noFill/>
            <a:ln w="9525" cap="flat" cmpd="sng">
              <a:solidFill>
                <a:srgbClr val="0E63F0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393" name="Google Shape;393;p53"/>
            <p:cNvSpPr txBox="1"/>
            <p:nvPr/>
          </p:nvSpPr>
          <p:spPr>
            <a:xfrm>
              <a:off x="308838" y="264612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200" noProof="0" dirty="0" err="1">
                  <a:solidFill>
                    <a:srgbClr val="000000"/>
                  </a:solidFill>
                  <a:latin typeface="Arial"/>
                </a:rPr>
                <a:t>Frontend</a:t>
              </a: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 carrega progresso, fases e desafios disponíveis</a:t>
              </a:r>
              <a:endParaRPr lang="pt-BR" sz="2000" b="0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4" name="Google Shape;394;p53"/>
          <p:cNvGrpSpPr/>
          <p:nvPr/>
        </p:nvGrpSpPr>
        <p:grpSpPr>
          <a:xfrm>
            <a:off x="7452380" y="5530309"/>
            <a:ext cx="6660400" cy="1479360"/>
            <a:chOff x="4657738" y="3391700"/>
            <a:chExt cx="4162750" cy="924600"/>
          </a:xfrm>
        </p:grpSpPr>
        <p:cxnSp>
          <p:nvCxnSpPr>
            <p:cNvPr id="395" name="Google Shape;395;p53"/>
            <p:cNvCxnSpPr/>
            <p:nvPr/>
          </p:nvCxnSpPr>
          <p:spPr>
            <a:xfrm>
              <a:off x="4657738" y="3854000"/>
              <a:ext cx="1838700" cy="0"/>
            </a:xfrm>
            <a:prstGeom prst="straightConnector1">
              <a:avLst/>
            </a:prstGeom>
            <a:noFill/>
            <a:ln w="9525" cap="flat" cmpd="sng">
              <a:solidFill>
                <a:srgbClr val="0D5CDF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396" name="Google Shape;396;p53"/>
            <p:cNvSpPr txBox="1"/>
            <p:nvPr/>
          </p:nvSpPr>
          <p:spPr>
            <a:xfrm>
              <a:off x="6696488" y="339170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Jogador resolve puzzles usando comandos lógicos</a:t>
              </a:r>
              <a:endParaRPr lang="pt-BR" sz="2000" b="0" i="0" u="none" strike="noStrike" cap="none" noProof="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97" name="Google Shape;397;p53"/>
          <p:cNvGrpSpPr/>
          <p:nvPr/>
        </p:nvGrpSpPr>
        <p:grpSpPr>
          <a:xfrm>
            <a:off x="8335740" y="2092349"/>
            <a:ext cx="5777040" cy="1479360"/>
            <a:chOff x="5209838" y="1242975"/>
            <a:chExt cx="3610650" cy="924600"/>
          </a:xfrm>
        </p:grpSpPr>
        <p:sp>
          <p:nvSpPr>
            <p:cNvPr id="398" name="Google Shape;398;p53"/>
            <p:cNvSpPr txBox="1"/>
            <p:nvPr/>
          </p:nvSpPr>
          <p:spPr>
            <a:xfrm>
              <a:off x="669648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200" noProof="0" dirty="0" err="1">
                  <a:solidFill>
                    <a:srgbClr val="000000"/>
                  </a:solidFill>
                  <a:latin typeface="Arial"/>
                </a:rPr>
                <a:t>Backend</a:t>
              </a: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 registra desempenho e atualiza o banco de dados</a:t>
              </a:r>
              <a:endParaRPr lang="pt-BR" sz="20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9" name="Google Shape;399;p53"/>
            <p:cNvCxnSpPr/>
            <p:nvPr/>
          </p:nvCxnSpPr>
          <p:spPr>
            <a:xfrm>
              <a:off x="5209838" y="1654113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rgbClr val="0942A1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400" name="Google Shape;400;p53"/>
          <p:cNvGrpSpPr/>
          <p:nvPr/>
        </p:nvGrpSpPr>
        <p:grpSpPr>
          <a:xfrm>
            <a:off x="8976460" y="3804949"/>
            <a:ext cx="5136320" cy="1479360"/>
            <a:chOff x="5610288" y="2313350"/>
            <a:chExt cx="3210200" cy="924600"/>
          </a:xfrm>
        </p:grpSpPr>
        <p:cxnSp>
          <p:nvCxnSpPr>
            <p:cNvPr id="401" name="Google Shape;401;p53"/>
            <p:cNvCxnSpPr/>
            <p:nvPr/>
          </p:nvCxnSpPr>
          <p:spPr>
            <a:xfrm>
              <a:off x="5610288" y="2775650"/>
              <a:ext cx="886200" cy="0"/>
            </a:xfrm>
            <a:prstGeom prst="straightConnector1">
              <a:avLst/>
            </a:prstGeom>
            <a:noFill/>
            <a:ln w="9525" cap="flat" cmpd="sng">
              <a:solidFill>
                <a:srgbClr val="0C57D3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402" name="Google Shape;402;p53"/>
            <p:cNvSpPr txBox="1"/>
            <p:nvPr/>
          </p:nvSpPr>
          <p:spPr>
            <a:xfrm>
              <a:off x="6696488" y="23133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45720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26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200" noProof="0" dirty="0">
                  <a:solidFill>
                    <a:srgbClr val="000000"/>
                  </a:solidFill>
                  <a:latin typeface="Arial"/>
                </a:rPr>
                <a:t>Sistema adaptativo ajusta dificuldade e solicita novos desafios à IA</a:t>
              </a:r>
              <a:endParaRPr lang="pt-BR" sz="20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3" name="Google Shape;403;p53"/>
          <p:cNvGrpSpPr/>
          <p:nvPr/>
        </p:nvGrpSpPr>
        <p:grpSpPr>
          <a:xfrm>
            <a:off x="4161979" y="1151485"/>
            <a:ext cx="6275519" cy="6265321"/>
            <a:chOff x="2610906" y="610653"/>
            <a:chExt cx="3922200" cy="3922200"/>
          </a:xfrm>
        </p:grpSpPr>
        <p:sp>
          <p:nvSpPr>
            <p:cNvPr id="404" name="Google Shape;404;p53"/>
            <p:cNvSpPr/>
            <p:nvPr/>
          </p:nvSpPr>
          <p:spPr>
            <a:xfrm rot="-4980021">
              <a:off x="3204123" y="1186472"/>
              <a:ext cx="2771960" cy="2771960"/>
            </a:xfrm>
            <a:prstGeom prst="blockArc">
              <a:avLst>
                <a:gd name="adj1" fmla="val 12602522"/>
                <a:gd name="adj2" fmla="val 16867657"/>
                <a:gd name="adj3" fmla="val 20844"/>
              </a:avLst>
            </a:prstGeom>
            <a:solidFill>
              <a:srgbClr val="0E63F0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53"/>
            <p:cNvSpPr/>
            <p:nvPr/>
          </p:nvSpPr>
          <p:spPr>
            <a:xfrm rot="7920309">
              <a:off x="3183402" y="1183149"/>
              <a:ext cx="2777207" cy="2777207"/>
            </a:xfrm>
            <a:prstGeom prst="blockArc">
              <a:avLst>
                <a:gd name="adj1" fmla="val 12602522"/>
                <a:gd name="adj2" fmla="val 16867657"/>
                <a:gd name="adj3" fmla="val 20844"/>
              </a:avLst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53"/>
            <p:cNvSpPr/>
            <p:nvPr/>
          </p:nvSpPr>
          <p:spPr>
            <a:xfrm rot="3600063">
              <a:off x="3186335" y="1195681"/>
              <a:ext cx="2777488" cy="2777488"/>
            </a:xfrm>
            <a:prstGeom prst="blockArc">
              <a:avLst>
                <a:gd name="adj1" fmla="val 12602522"/>
                <a:gd name="adj2" fmla="val 16867657"/>
                <a:gd name="adj3" fmla="val 20844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53"/>
            <p:cNvSpPr/>
            <p:nvPr/>
          </p:nvSpPr>
          <p:spPr>
            <a:xfrm rot="4024705">
              <a:off x="5326681" y="1940898"/>
              <a:ext cx="578477" cy="579147"/>
            </a:xfrm>
            <a:prstGeom prst="pie">
              <a:avLst>
                <a:gd name="adj1" fmla="val 6190354"/>
                <a:gd name="adj2" fmla="val 14996165"/>
              </a:avLst>
            </a:prstGeom>
            <a:solidFill>
              <a:srgbClr val="0C57D3"/>
            </a:solidFill>
            <a:ln>
              <a:noFill/>
            </a:ln>
            <a:effectLst>
              <a:outerShdw blurRad="228600" algn="bl" rotWithShape="0">
                <a:srgbClr val="000000">
                  <a:alpha val="42745"/>
                </a:srgbClr>
              </a:outerShdw>
            </a:effectLst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53"/>
            <p:cNvSpPr/>
            <p:nvPr/>
          </p:nvSpPr>
          <p:spPr>
            <a:xfrm rot="-6816027">
              <a:off x="5326729" y="1940918"/>
              <a:ext cx="578485" cy="579035"/>
            </a:xfrm>
            <a:prstGeom prst="pie">
              <a:avLst>
                <a:gd name="adj1" fmla="val 4028252"/>
                <a:gd name="adj2" fmla="val 17183677"/>
              </a:avLst>
            </a:prstGeom>
            <a:solidFill>
              <a:srgbClr val="0C57D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53"/>
            <p:cNvSpPr/>
            <p:nvPr/>
          </p:nvSpPr>
          <p:spPr>
            <a:xfrm rot="-9359762">
              <a:off x="3193941" y="1176205"/>
              <a:ext cx="2777287" cy="2777287"/>
            </a:xfrm>
            <a:prstGeom prst="blockArc">
              <a:avLst>
                <a:gd name="adj1" fmla="val 12602522"/>
                <a:gd name="adj2" fmla="val 16867657"/>
                <a:gd name="adj3" fmla="val 20844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53"/>
            <p:cNvSpPr/>
            <p:nvPr/>
          </p:nvSpPr>
          <p:spPr>
            <a:xfrm rot="-8936366">
              <a:off x="3659126" y="3173505"/>
              <a:ext cx="578551" cy="578963"/>
            </a:xfrm>
            <a:prstGeom prst="pie">
              <a:avLst>
                <a:gd name="adj1" fmla="val 6190354"/>
                <a:gd name="adj2" fmla="val 14996165"/>
              </a:avLst>
            </a:prstGeom>
            <a:solidFill>
              <a:srgbClr val="0E63F0"/>
            </a:solidFill>
            <a:ln>
              <a:noFill/>
            </a:ln>
            <a:effectLst>
              <a:outerShdw blurRad="228600" algn="bl" rotWithShape="0">
                <a:srgbClr val="000000">
                  <a:alpha val="42745"/>
                </a:srgbClr>
              </a:outerShdw>
            </a:effectLst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3"/>
            <p:cNvSpPr/>
            <p:nvPr/>
          </p:nvSpPr>
          <p:spPr>
            <a:xfrm rot="1824498">
              <a:off x="3659375" y="3173497"/>
              <a:ext cx="578475" cy="578885"/>
            </a:xfrm>
            <a:prstGeom prst="pie">
              <a:avLst>
                <a:gd name="adj1" fmla="val 4028252"/>
                <a:gd name="adj2" fmla="val 17183677"/>
              </a:avLst>
            </a:prstGeom>
            <a:solidFill>
              <a:srgbClr val="0E63F0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3"/>
            <p:cNvSpPr/>
            <p:nvPr/>
          </p:nvSpPr>
          <p:spPr>
            <a:xfrm rot="-600092">
              <a:off x="3198852" y="1195456"/>
              <a:ext cx="2777611" cy="2777611"/>
            </a:xfrm>
            <a:prstGeom prst="blockArc">
              <a:avLst>
                <a:gd name="adj1" fmla="val 12513247"/>
                <a:gd name="adj2" fmla="val 16867657"/>
                <a:gd name="adj3" fmla="val 20844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3"/>
            <p:cNvSpPr/>
            <p:nvPr/>
          </p:nvSpPr>
          <p:spPr>
            <a:xfrm rot="-176551">
              <a:off x="4312105" y="1195442"/>
              <a:ext cx="578563" cy="579162"/>
            </a:xfrm>
            <a:prstGeom prst="pie">
              <a:avLst>
                <a:gd name="adj1" fmla="val 6190354"/>
                <a:gd name="adj2" fmla="val 14996165"/>
              </a:avLst>
            </a:prstGeom>
            <a:solidFill>
              <a:srgbClr val="0942A1"/>
            </a:solidFill>
            <a:ln>
              <a:noFill/>
            </a:ln>
            <a:effectLst>
              <a:outerShdw blurRad="228600" algn="bl" rotWithShape="0">
                <a:srgbClr val="000000">
                  <a:alpha val="42745"/>
                </a:srgbClr>
              </a:outerShdw>
            </a:effectLst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53"/>
            <p:cNvSpPr/>
            <p:nvPr/>
          </p:nvSpPr>
          <p:spPr>
            <a:xfrm rot="10584085">
              <a:off x="4312088" y="1195622"/>
              <a:ext cx="578340" cy="578939"/>
            </a:xfrm>
            <a:prstGeom prst="pie">
              <a:avLst>
                <a:gd name="adj1" fmla="val 4028252"/>
                <a:gd name="adj2" fmla="val 17183677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53"/>
            <p:cNvSpPr/>
            <p:nvPr/>
          </p:nvSpPr>
          <p:spPr>
            <a:xfrm rot="8344778">
              <a:off x="4940929" y="3162886"/>
              <a:ext cx="578465" cy="578888"/>
            </a:xfrm>
            <a:prstGeom prst="pie">
              <a:avLst>
                <a:gd name="adj1" fmla="val 6190354"/>
                <a:gd name="adj2" fmla="val 14996165"/>
              </a:avLst>
            </a:prstGeom>
            <a:solidFill>
              <a:srgbClr val="0D5CDF"/>
            </a:solidFill>
            <a:ln>
              <a:noFill/>
            </a:ln>
            <a:effectLst>
              <a:outerShdw blurRad="228600" algn="bl" rotWithShape="0">
                <a:srgbClr val="000000">
                  <a:alpha val="42745"/>
                </a:srgbClr>
              </a:outerShdw>
            </a:effectLst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3"/>
            <p:cNvSpPr/>
            <p:nvPr/>
          </p:nvSpPr>
          <p:spPr>
            <a:xfrm rot="-2495643">
              <a:off x="4941000" y="3162728"/>
              <a:ext cx="578445" cy="579093"/>
            </a:xfrm>
            <a:prstGeom prst="pie">
              <a:avLst>
                <a:gd name="adj1" fmla="val 4028252"/>
                <a:gd name="adj2" fmla="val 17183677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3"/>
            <p:cNvSpPr/>
            <p:nvPr/>
          </p:nvSpPr>
          <p:spPr>
            <a:xfrm rot="-4556960">
              <a:off x="3257335" y="1939059"/>
              <a:ext cx="578302" cy="578957"/>
            </a:xfrm>
            <a:prstGeom prst="pie">
              <a:avLst>
                <a:gd name="adj1" fmla="val 6190354"/>
                <a:gd name="adj2" fmla="val 14996165"/>
              </a:avLst>
            </a:prstGeom>
            <a:solidFill>
              <a:srgbClr val="307AF3"/>
            </a:solidFill>
            <a:ln>
              <a:noFill/>
            </a:ln>
            <a:effectLst>
              <a:outerShdw blurRad="228600" algn="bl" rotWithShape="0">
                <a:srgbClr val="000000">
                  <a:alpha val="42745"/>
                </a:srgbClr>
              </a:outerShdw>
            </a:effectLst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3"/>
            <p:cNvSpPr/>
            <p:nvPr/>
          </p:nvSpPr>
          <p:spPr>
            <a:xfrm rot="6204541">
              <a:off x="3257468" y="1938977"/>
              <a:ext cx="578264" cy="578917"/>
            </a:xfrm>
            <a:prstGeom prst="pie">
              <a:avLst>
                <a:gd name="adj1" fmla="val 4028252"/>
                <a:gd name="adj2" fmla="val 17183677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146275" tIns="146275" rIns="146275" bIns="146275" anchor="ctr" anchorCtr="0">
              <a:norm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lang="pt-BR" sz="1400" b="0" i="0" u="none" strike="noStrike" cap="none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3"/>
            <p:cNvSpPr txBox="1"/>
            <p:nvPr/>
          </p:nvSpPr>
          <p:spPr>
            <a:xfrm>
              <a:off x="4341900" y="127189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rmAutofit fontScale="40000" lnSpcReduction="20000"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pt-BR" sz="2600" b="1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</a:p>
          </p:txBody>
        </p:sp>
        <p:sp>
          <p:nvSpPr>
            <p:cNvPr id="420" name="Google Shape;420;p53"/>
            <p:cNvSpPr txBox="1"/>
            <p:nvPr/>
          </p:nvSpPr>
          <p:spPr>
            <a:xfrm>
              <a:off x="3274219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rmAutofit fontScale="40000" lnSpcReduction="20000"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pt-BR" sz="2600" b="1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  <p:sp>
          <p:nvSpPr>
            <p:cNvPr id="421" name="Google Shape;421;p53"/>
            <p:cNvSpPr txBox="1"/>
            <p:nvPr/>
          </p:nvSpPr>
          <p:spPr>
            <a:xfrm>
              <a:off x="3685317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rmAutofit fontScale="40000" lnSpcReduction="20000"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pt-BR" sz="2600" b="1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</a:p>
          </p:txBody>
        </p:sp>
        <p:sp>
          <p:nvSpPr>
            <p:cNvPr id="422" name="Google Shape;422;p53"/>
            <p:cNvSpPr txBox="1"/>
            <p:nvPr/>
          </p:nvSpPr>
          <p:spPr>
            <a:xfrm>
              <a:off x="4955323" y="324732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rmAutofit fontScale="40000" lnSpcReduction="20000"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pt-BR" sz="2600" b="1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</a:p>
          </p:txBody>
        </p:sp>
        <p:sp>
          <p:nvSpPr>
            <p:cNvPr id="423" name="Google Shape;423;p53"/>
            <p:cNvSpPr txBox="1"/>
            <p:nvPr/>
          </p:nvSpPr>
          <p:spPr>
            <a:xfrm>
              <a:off x="5364737" y="2018364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6275" tIns="146275" rIns="146275" bIns="146275" anchor="t" anchorCtr="0">
              <a:normAutofit fontScale="40000" lnSpcReduction="20000"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pt-BR" sz="2600" b="1" i="0" u="none" strike="noStrike" cap="none" noProof="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Box 439"/>
          <p:cNvSpPr txBox="1"/>
          <p:nvPr/>
        </p:nvSpPr>
        <p:spPr>
          <a:xfrm>
            <a:off x="640080" y="594360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pt-BR" sz="3000" b="1" noProof="0" dirty="0">
                <a:solidFill>
                  <a:srgbClr val="000000"/>
                </a:solidFill>
                <a:latin typeface="Arial"/>
              </a:rPr>
              <a:t>Conclusão </a:t>
            </a:r>
            <a:r>
              <a:rPr lang="pt-BR" sz="3000" b="1" noProof="0" dirty="0"/>
              <a:t>Final</a:t>
            </a:r>
            <a:endParaRPr lang="pt-BR" sz="3000" b="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Box 440"/>
          <p:cNvSpPr txBox="1"/>
          <p:nvPr/>
        </p:nvSpPr>
        <p:spPr>
          <a:xfrm>
            <a:off x="822960" y="1600200"/>
            <a:ext cx="106984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pt-BR" sz="1600" b="0" noProof="0" dirty="0">
                <a:solidFill>
                  <a:srgbClr val="5A5A5A"/>
                </a:solidFill>
                <a:latin typeface="Arial"/>
              </a:rPr>
              <a:t>A primeira etapa consolidou a base teórica, metodológica e técnica para o desenvolvimento do projeto.</a:t>
            </a:r>
          </a:p>
        </p:txBody>
      </p:sp>
      <p:sp>
        <p:nvSpPr>
          <p:cNvPr id="442" name="Rounded Rectangle 441"/>
          <p:cNvSpPr/>
          <p:nvPr/>
        </p:nvSpPr>
        <p:spPr>
          <a:xfrm>
            <a:off x="914400" y="3079699"/>
            <a:ext cx="4846320" cy="1051560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3" name="TextBox 442"/>
          <p:cNvSpPr txBox="1"/>
          <p:nvPr/>
        </p:nvSpPr>
        <p:spPr>
          <a:xfrm>
            <a:off x="1115568" y="3226003"/>
            <a:ext cx="4434840" cy="25603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pt-BR" sz="1400" b="1" noProof="0" dirty="0">
                <a:solidFill>
                  <a:srgbClr val="FFFFFF"/>
                </a:solidFill>
                <a:latin typeface="Arial"/>
              </a:rPr>
              <a:t>Base teórica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115568" y="3555187"/>
            <a:ext cx="4434840" cy="40233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pt-BR" sz="1050" b="0" noProof="0" dirty="0">
                <a:solidFill>
                  <a:srgbClr val="FFFFFF"/>
                </a:solidFill>
                <a:latin typeface="Arial"/>
              </a:rPr>
              <a:t>A revisão bibliográfica reforça o uso de IA, gamificação e aprendizagem ativa no ensino de programação.</a:t>
            </a:r>
          </a:p>
        </p:txBody>
      </p:sp>
      <p:sp>
        <p:nvSpPr>
          <p:cNvPr id="445" name="Rounded Rectangle 444"/>
          <p:cNvSpPr/>
          <p:nvPr/>
        </p:nvSpPr>
        <p:spPr>
          <a:xfrm>
            <a:off x="7958937" y="3079699"/>
            <a:ext cx="4846320" cy="1051560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6" name="TextBox 445"/>
          <p:cNvSpPr txBox="1"/>
          <p:nvPr/>
        </p:nvSpPr>
        <p:spPr>
          <a:xfrm>
            <a:off x="8160105" y="3226003"/>
            <a:ext cx="4434840" cy="25603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pt-BR" sz="1400" b="1" noProof="0" dirty="0">
                <a:solidFill>
                  <a:srgbClr val="FFFFFF"/>
                </a:solidFill>
                <a:latin typeface="Arial"/>
              </a:rPr>
              <a:t>Proposta do sistema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8160105" y="3555187"/>
            <a:ext cx="4434840" cy="40233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pt-BR" sz="1050" b="0" noProof="0" dirty="0">
                <a:solidFill>
                  <a:srgbClr val="FFFFFF"/>
                </a:solidFill>
                <a:latin typeface="Arial"/>
              </a:rPr>
              <a:t>O projeto busca gerar desafios de algoritmos personalizados e aumentar o engajamento dos estudantes.</a:t>
            </a:r>
          </a:p>
        </p:txBody>
      </p:sp>
      <p:sp>
        <p:nvSpPr>
          <p:cNvPr id="448" name="Rounded Rectangle 447"/>
          <p:cNvSpPr/>
          <p:nvPr/>
        </p:nvSpPr>
        <p:spPr>
          <a:xfrm>
            <a:off x="914400" y="5217564"/>
            <a:ext cx="4846320" cy="1051560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49" name="TextBox 448"/>
          <p:cNvSpPr txBox="1"/>
          <p:nvPr/>
        </p:nvSpPr>
        <p:spPr>
          <a:xfrm>
            <a:off x="1115568" y="5363868"/>
            <a:ext cx="4434840" cy="25603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pt-BR" sz="1400" b="1" noProof="0" dirty="0">
                <a:solidFill>
                  <a:srgbClr val="FFFFFF"/>
                </a:solidFill>
                <a:latin typeface="Arial"/>
              </a:rPr>
              <a:t>Metodologia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115568" y="5693052"/>
            <a:ext cx="4434840" cy="40233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pt-BR" sz="1050" b="0" noProof="0" dirty="0">
                <a:solidFill>
                  <a:srgbClr val="FFFFFF"/>
                </a:solidFill>
                <a:latin typeface="Arial"/>
              </a:rPr>
              <a:t>A pesquisa é aplicada e tecnológica, com desenvolvimento web, integração com IA e testes funcionais.</a:t>
            </a:r>
          </a:p>
        </p:txBody>
      </p:sp>
      <p:sp>
        <p:nvSpPr>
          <p:cNvPr id="451" name="Rounded Rectangle 450"/>
          <p:cNvSpPr/>
          <p:nvPr/>
        </p:nvSpPr>
        <p:spPr>
          <a:xfrm>
            <a:off x="7958937" y="5217564"/>
            <a:ext cx="4846320" cy="1051560"/>
          </a:xfrm>
          <a:prstGeom prst="roundRect">
            <a:avLst/>
          </a:prstGeom>
          <a:solidFill>
            <a:srgbClr val="2570E2"/>
          </a:solidFill>
          <a:ln>
            <a:solidFill>
              <a:srgbClr val="257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52" name="TextBox 451"/>
          <p:cNvSpPr txBox="1"/>
          <p:nvPr/>
        </p:nvSpPr>
        <p:spPr>
          <a:xfrm>
            <a:off x="8160105" y="5363868"/>
            <a:ext cx="4434840" cy="25603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lang="pt-BR" sz="1400" b="1" noProof="0" dirty="0">
                <a:solidFill>
                  <a:srgbClr val="FFFFFF"/>
                </a:solidFill>
                <a:latin typeface="Arial"/>
              </a:rPr>
              <a:t>Modelagem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8160105" y="5693052"/>
            <a:ext cx="4434840" cy="402336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lang="pt-BR" sz="1050" b="0" noProof="0" dirty="0">
                <a:solidFill>
                  <a:srgbClr val="FFFFFF"/>
                </a:solidFill>
                <a:latin typeface="Arial"/>
              </a:rPr>
              <a:t>A arquitetura, UML e DER orientam uma implementação organizada, escalável e manutenível.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/>
        </p:nvSpPr>
        <p:spPr>
          <a:xfrm>
            <a:off x="793790" y="1706712"/>
            <a:ext cx="13305000" cy="5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4925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900"/>
              <a:buFont typeface="Arial"/>
              <a:buChar char="➔"/>
            </a:pPr>
            <a:r>
              <a:rPr lang="pt-BR" sz="1600" b="1" noProof="0" dirty="0">
                <a:solidFill>
                  <a:schemeClr val="dk1"/>
                </a:solidFill>
              </a:rPr>
              <a:t>Implementação do protótipo web</a:t>
            </a:r>
            <a:br>
              <a:rPr lang="pt-BR" sz="1600" b="1" noProof="0" dirty="0">
                <a:solidFill>
                  <a:schemeClr val="dk1"/>
                </a:solidFill>
              </a:rPr>
            </a:br>
            <a:r>
              <a:rPr lang="pt-BR" sz="1600" noProof="0" dirty="0">
                <a:solidFill>
                  <a:schemeClr val="dk1"/>
                </a:solidFill>
              </a:rPr>
              <a:t> Desenvolver as fases, puzzles, menu, autenticação e progressão do jogo.</a:t>
            </a:r>
          </a:p>
          <a:p>
            <a:pPr marL="10795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900"/>
            </a:pPr>
            <a:endParaRPr lang="pt-BR" sz="1600" noProof="0" dirty="0">
              <a:solidFill>
                <a:schemeClr val="dk1"/>
              </a:solidFill>
            </a:endParaRPr>
          </a:p>
          <a:p>
            <a:pPr marL="457200" lvl="0" indent="-349250">
              <a:lnSpc>
                <a:spcPct val="115000"/>
              </a:lnSpc>
              <a:buClr>
                <a:schemeClr val="dk1"/>
              </a:buClr>
              <a:buSzPts val="1900"/>
              <a:buFont typeface="Arial"/>
              <a:buChar char="➔"/>
            </a:pPr>
            <a:r>
              <a:rPr lang="pt-BR" sz="1600" b="1" noProof="0" dirty="0">
                <a:solidFill>
                  <a:schemeClr val="dk1"/>
                </a:solidFill>
              </a:rPr>
              <a:t>Integração com IA generativa</a:t>
            </a:r>
            <a:br>
              <a:rPr lang="pt-BR" sz="1600" b="1" noProof="0" dirty="0">
                <a:solidFill>
                  <a:schemeClr val="dk1"/>
                </a:solidFill>
              </a:rPr>
            </a:br>
            <a:r>
              <a:rPr lang="pt-BR" sz="1600" noProof="0" dirty="0">
                <a:solidFill>
                  <a:schemeClr val="dk1"/>
                </a:solidFill>
              </a:rPr>
              <a:t> Conectar o </a:t>
            </a:r>
            <a:r>
              <a:rPr lang="pt-BR" sz="1600" noProof="0" dirty="0" err="1">
                <a:solidFill>
                  <a:schemeClr val="dk1"/>
                </a:solidFill>
              </a:rPr>
              <a:t>backend</a:t>
            </a:r>
            <a:r>
              <a:rPr lang="pt-BR" sz="1600" noProof="0" dirty="0">
                <a:solidFill>
                  <a:schemeClr val="dk1"/>
                </a:solidFill>
              </a:rPr>
              <a:t> à API de IA para criação de desafios adaptativos.</a:t>
            </a:r>
          </a:p>
          <a:p>
            <a:pPr marL="107950" lvl="0">
              <a:lnSpc>
                <a:spcPct val="115000"/>
              </a:lnSpc>
              <a:buClr>
                <a:schemeClr val="dk1"/>
              </a:buClr>
              <a:buSzPts val="1900"/>
            </a:pPr>
            <a:endParaRPr lang="pt-BR" sz="1600" noProof="0" dirty="0">
              <a:solidFill>
                <a:schemeClr val="dk1"/>
              </a:solidFill>
            </a:endParaRPr>
          </a:p>
          <a:p>
            <a:pPr marL="457200" lvl="0" indent="-349250">
              <a:lnSpc>
                <a:spcPct val="115000"/>
              </a:lnSpc>
              <a:buClr>
                <a:schemeClr val="dk1"/>
              </a:buClr>
              <a:buSzPts val="1900"/>
              <a:buFont typeface="Arial"/>
              <a:buChar char="➔"/>
            </a:pPr>
            <a:r>
              <a:rPr lang="pt-BR" sz="1600" b="1" noProof="0" dirty="0">
                <a:solidFill>
                  <a:schemeClr val="dk1"/>
                </a:solidFill>
              </a:rPr>
              <a:t>Persistência e análise de desempenho</a:t>
            </a:r>
            <a:br>
              <a:rPr lang="pt-BR" sz="1600" b="1" noProof="0" dirty="0">
                <a:solidFill>
                  <a:schemeClr val="dk1"/>
                </a:solidFill>
              </a:rPr>
            </a:br>
            <a:r>
              <a:rPr lang="pt-BR" sz="1600" noProof="0" dirty="0">
                <a:solidFill>
                  <a:schemeClr val="dk1"/>
                </a:solidFill>
              </a:rPr>
              <a:t> Registrar progresso, acertos, erros, tentativas e tópicos com maior dificuldade.</a:t>
            </a:r>
          </a:p>
          <a:p>
            <a:pPr marL="107950" lvl="0">
              <a:lnSpc>
                <a:spcPct val="115000"/>
              </a:lnSpc>
              <a:buClr>
                <a:schemeClr val="dk1"/>
              </a:buClr>
              <a:buSzPts val="1900"/>
            </a:pPr>
            <a:endParaRPr lang="pt-BR" sz="1600" noProof="0" dirty="0">
              <a:solidFill>
                <a:schemeClr val="dk1"/>
              </a:solidFill>
            </a:endParaRPr>
          </a:p>
          <a:p>
            <a:pPr marL="457200" lvl="0" indent="-349250">
              <a:lnSpc>
                <a:spcPct val="115000"/>
              </a:lnSpc>
              <a:buClr>
                <a:schemeClr val="dk1"/>
              </a:buClr>
              <a:buSzPts val="1900"/>
              <a:buFont typeface="Arial"/>
              <a:buChar char="➔"/>
            </a:pPr>
            <a:r>
              <a:rPr lang="pt-BR" sz="1600" b="1" noProof="0" dirty="0">
                <a:solidFill>
                  <a:schemeClr val="dk1"/>
                </a:solidFill>
              </a:rPr>
              <a:t>Testes funcionais e validação</a:t>
            </a:r>
            <a:br>
              <a:rPr lang="pt-BR" sz="1600" b="1" noProof="0" dirty="0">
                <a:solidFill>
                  <a:schemeClr val="dk1"/>
                </a:solidFill>
              </a:rPr>
            </a:br>
            <a:r>
              <a:rPr lang="pt-BR" sz="1600" noProof="0" dirty="0">
                <a:solidFill>
                  <a:schemeClr val="dk1"/>
                </a:solidFill>
              </a:rPr>
              <a:t> Verificar mecânicas, comunicação </a:t>
            </a:r>
            <a:r>
              <a:rPr lang="pt-BR" sz="1600" noProof="0" dirty="0" err="1">
                <a:solidFill>
                  <a:schemeClr val="dk1"/>
                </a:solidFill>
              </a:rPr>
              <a:t>frontend</a:t>
            </a:r>
            <a:r>
              <a:rPr lang="pt-BR" sz="1600" noProof="0" dirty="0">
                <a:solidFill>
                  <a:schemeClr val="dk1"/>
                </a:solidFill>
              </a:rPr>
              <a:t>/</a:t>
            </a:r>
            <a:r>
              <a:rPr lang="pt-BR" sz="1600" noProof="0" dirty="0" err="1">
                <a:solidFill>
                  <a:schemeClr val="dk1"/>
                </a:solidFill>
              </a:rPr>
              <a:t>backend</a:t>
            </a:r>
            <a:r>
              <a:rPr lang="pt-BR" sz="1600" noProof="0" dirty="0">
                <a:solidFill>
                  <a:schemeClr val="dk1"/>
                </a:solidFill>
              </a:rPr>
              <a:t> e qualidade dos desafios gerados.</a:t>
            </a:r>
          </a:p>
          <a:p>
            <a:pPr marL="107950" lvl="0">
              <a:lnSpc>
                <a:spcPct val="115000"/>
              </a:lnSpc>
              <a:buClr>
                <a:schemeClr val="dk1"/>
              </a:buClr>
              <a:buSzPts val="1900"/>
            </a:pPr>
            <a:endParaRPr lang="pt-BR" sz="1600" noProof="0" dirty="0">
              <a:solidFill>
                <a:schemeClr val="dk1"/>
              </a:solidFill>
            </a:endParaRPr>
          </a:p>
          <a:p>
            <a:pPr marL="457200" lvl="0" indent="-349250">
              <a:lnSpc>
                <a:spcPct val="115000"/>
              </a:lnSpc>
              <a:buClr>
                <a:schemeClr val="dk1"/>
              </a:buClr>
              <a:buSzPts val="1900"/>
              <a:buFont typeface="Arial"/>
              <a:buChar char="➔"/>
            </a:pPr>
            <a:r>
              <a:rPr lang="pt-BR" sz="1600" b="1" noProof="0" dirty="0">
                <a:solidFill>
                  <a:schemeClr val="dk1"/>
                </a:solidFill>
              </a:rPr>
              <a:t>Aprimoramento da experiência do usuário</a:t>
            </a:r>
            <a:br>
              <a:rPr lang="pt-BR" sz="1600" b="1" noProof="0" dirty="0">
                <a:solidFill>
                  <a:schemeClr val="dk1"/>
                </a:solidFill>
              </a:rPr>
            </a:br>
            <a:r>
              <a:rPr lang="pt-BR" sz="1600" noProof="0" dirty="0">
                <a:solidFill>
                  <a:schemeClr val="dk1"/>
                </a:solidFill>
              </a:rPr>
              <a:t> Ajustar interface, narrativa, recompensas e feedback para aumentar o engajamento.</a:t>
            </a:r>
          </a:p>
        </p:txBody>
      </p:sp>
      <p:sp>
        <p:nvSpPr>
          <p:cNvPr id="3" name="Google Shape;447;p56">
            <a:extLst>
              <a:ext uri="{FF2B5EF4-FFF2-40B4-BE49-F238E27FC236}">
                <a16:creationId xmlns:a16="http://schemas.microsoft.com/office/drawing/2014/main" id="{479F2493-AE27-5021-0F78-F6DD44B95A36}"/>
              </a:ext>
            </a:extLst>
          </p:cNvPr>
          <p:cNvSpPr/>
          <p:nvPr/>
        </p:nvSpPr>
        <p:spPr>
          <a:xfrm>
            <a:off x="793790" y="664488"/>
            <a:ext cx="49617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00"/>
              <a:buFont typeface="Arial"/>
              <a:buNone/>
            </a:pPr>
            <a:r>
              <a:rPr lang="pt-BR" sz="3900" b="1" i="0" u="none" strike="noStrike" cap="none" noProof="0" dirty="0">
                <a:solidFill>
                  <a:schemeClr val="dk1"/>
                </a:solidFill>
              </a:rPr>
              <a:t>Trabalhos Futuros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7"/>
          <p:cNvSpPr txBox="1">
            <a:spLocks noGrp="1"/>
          </p:cNvSpPr>
          <p:nvPr>
            <p:ph type="title"/>
          </p:nvPr>
        </p:nvSpPr>
        <p:spPr>
          <a:xfrm>
            <a:off x="1005840" y="3319500"/>
            <a:ext cx="12618600" cy="15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 b="1" noProof="0" dirty="0">
                <a:latin typeface="Arial"/>
                <a:ea typeface="Arial"/>
                <a:cs typeface="Arial"/>
                <a:sym typeface="Arial"/>
              </a:rPr>
              <a:t>MUITO OBRIGADO!</a:t>
            </a:r>
          </a:p>
        </p:txBody>
      </p:sp>
      <p:pic>
        <p:nvPicPr>
          <p:cNvPr id="454" name="Google Shape;45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8699" y="0"/>
            <a:ext cx="2031700" cy="20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ema do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73A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892</Words>
  <Application>Microsoft Office PowerPoint</Application>
  <PresentationFormat>Personalizar</PresentationFormat>
  <Paragraphs>143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Roboto</vt:lpstr>
      <vt:lpstr>Arial</vt:lpstr>
      <vt:lpstr>Calibri</vt:lpstr>
      <vt:lpstr>Play</vt:lpstr>
      <vt:lpstr>Simple Light</vt:lpstr>
      <vt:lpstr>Office Theme</vt:lpstr>
      <vt:lpstr>Apresentação do PowerPoint</vt:lpstr>
      <vt:lpstr>O problema no ensino de lógica de programação</vt:lpstr>
      <vt:lpstr>Apresentação do PowerPoint</vt:lpstr>
      <vt:lpstr>Apresentação do PowerPoint</vt:lpstr>
      <vt:lpstr>Apresentação do PowerPoint</vt:lpstr>
      <vt:lpstr>Desafios e limitações da proposta</vt:lpstr>
      <vt:lpstr>Apresentação do PowerPoint</vt:lpstr>
      <vt:lpstr>Apresentação do PowerPoint</vt:lpstr>
      <vt:lpstr>Apresentação do PowerPoint</vt:lpstr>
      <vt:lpstr>Apresentação do PowerPoint</vt:lpstr>
      <vt:lpstr>Comunicação e formato dos dados</vt:lpstr>
      <vt:lpstr>Fluxo de funcionamento do sistema Da entrada do usuário à adaptação dos desafios</vt:lpstr>
      <vt:lpstr>Apresentação do PowerPoint</vt:lpstr>
      <vt:lpstr>Apresentação do PowerPoint</vt:lpstr>
      <vt:lpstr>MUITO 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Vitor Fongaro</cp:lastModifiedBy>
  <cp:revision>26</cp:revision>
  <dcterms:modified xsi:type="dcterms:W3CDTF">2026-06-21T01:51:25Z</dcterms:modified>
</cp:coreProperties>
</file>